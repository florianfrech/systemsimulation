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4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99C3"/>
    <a:srgbClr val="FA72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26" autoAdjust="0"/>
    <p:restoredTop sz="94660"/>
  </p:normalViewPr>
  <p:slideViewPr>
    <p:cSldViewPr showGuides="1">
      <p:cViewPr varScale="1">
        <p:scale>
          <a:sx n="105" d="100"/>
          <a:sy n="105" d="100"/>
        </p:scale>
        <p:origin x="122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37A7-B63D-4321-98B8-DB37342017D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4712-7769-4FC4-AB79-2791DF568F0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56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37A7-B63D-4321-98B8-DB37342017D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4712-7769-4FC4-AB79-2791DF568F0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956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37A7-B63D-4321-98B8-DB37342017D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4712-7769-4FC4-AB79-2791DF568F0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67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37A7-B63D-4321-98B8-DB37342017D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4712-7769-4FC4-AB79-2791DF568F0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77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37A7-B63D-4321-98B8-DB37342017D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4712-7769-4FC4-AB79-2791DF568F0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69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37A7-B63D-4321-98B8-DB37342017D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4712-7769-4FC4-AB79-2791DF568F0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13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37A7-B63D-4321-98B8-DB37342017D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4712-7769-4FC4-AB79-2791DF568F0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4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37A7-B63D-4321-98B8-DB37342017D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4712-7769-4FC4-AB79-2791DF568F0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8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37A7-B63D-4321-98B8-DB37342017D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4712-7769-4FC4-AB79-2791DF568F0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40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37A7-B63D-4321-98B8-DB37342017D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4712-7769-4FC4-AB79-2791DF568F0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0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37A7-B63D-4321-98B8-DB37342017D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4712-7769-4FC4-AB79-2791DF568F0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8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A37A7-B63D-4321-98B8-DB37342017D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A4712-7769-4FC4-AB79-2791DF568F0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97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sv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9E737010-3F8B-BFDD-0534-81E95CE8A604}"/>
              </a:ext>
            </a:extLst>
          </p:cNvPr>
          <p:cNvSpPr/>
          <p:nvPr/>
        </p:nvSpPr>
        <p:spPr>
          <a:xfrm>
            <a:off x="9298490" y="3893575"/>
            <a:ext cx="1800000" cy="191082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C8506320-D03E-0C0D-9A50-6F8B3A9D8BCB}"/>
              </a:ext>
            </a:extLst>
          </p:cNvPr>
          <p:cNvSpPr/>
          <p:nvPr/>
        </p:nvSpPr>
        <p:spPr>
          <a:xfrm>
            <a:off x="491815" y="3102172"/>
            <a:ext cx="1800000" cy="191082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AE525B32-A7BC-4D83-AC8E-469EB101E3D3}"/>
              </a:ext>
            </a:extLst>
          </p:cNvPr>
          <p:cNvGrpSpPr/>
          <p:nvPr/>
        </p:nvGrpSpPr>
        <p:grpSpPr>
          <a:xfrm>
            <a:off x="3861189" y="1386862"/>
            <a:ext cx="3946656" cy="4482134"/>
            <a:chOff x="3000000" y="560220"/>
            <a:chExt cx="5040000" cy="6036780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7170F316-C7C0-02C9-7FD3-A7E1EE79A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13" t="15629" r="27315" b="7880"/>
            <a:stretch>
              <a:fillRect/>
            </a:stretch>
          </p:blipFill>
          <p:spPr>
            <a:xfrm>
              <a:off x="3000000" y="560220"/>
              <a:ext cx="5040000" cy="5737559"/>
            </a:xfrm>
            <a:prstGeom prst="rect">
              <a:avLst/>
            </a:prstGeom>
          </p:spPr>
        </p:pic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FE1BE24A-FCD8-5950-995C-B422DF852008}"/>
                </a:ext>
              </a:extLst>
            </p:cNvPr>
            <p:cNvSpPr/>
            <p:nvPr/>
          </p:nvSpPr>
          <p:spPr>
            <a:xfrm>
              <a:off x="3000000" y="6304547"/>
              <a:ext cx="5040000" cy="292453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8178773-B45C-2762-0E1E-3C899AFB7FE5}"/>
                </a:ext>
              </a:extLst>
            </p:cNvPr>
            <p:cNvCxnSpPr/>
            <p:nvPr/>
          </p:nvCxnSpPr>
          <p:spPr>
            <a:xfrm>
              <a:off x="3000000" y="6304547"/>
              <a:ext cx="50400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9111A691-B1D0-C3A8-3352-01F1F5C29A0C}"/>
              </a:ext>
            </a:extLst>
          </p:cNvPr>
          <p:cNvSpPr/>
          <p:nvPr/>
        </p:nvSpPr>
        <p:spPr>
          <a:xfrm>
            <a:off x="3504000" y="2277000"/>
            <a:ext cx="1656000" cy="57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Biomechanics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52E321C3-C678-5FC0-A150-615E2FA5A0A3}"/>
              </a:ext>
            </a:extLst>
          </p:cNvPr>
          <p:cNvSpPr/>
          <p:nvPr/>
        </p:nvSpPr>
        <p:spPr>
          <a:xfrm>
            <a:off x="6905033" y="2277000"/>
            <a:ext cx="2088002" cy="57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Actuators, Control and Sensors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7FD78E22-67C8-1572-D9CE-446B6F7CB039}"/>
              </a:ext>
            </a:extLst>
          </p:cNvPr>
          <p:cNvSpPr/>
          <p:nvPr/>
        </p:nvSpPr>
        <p:spPr>
          <a:xfrm>
            <a:off x="5376000" y="3933000"/>
            <a:ext cx="1368000" cy="57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Structural Mechanics</a:t>
            </a: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E4039CFD-54FA-B349-F2EC-8AA7C8FD9E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4000" y="5157000"/>
            <a:ext cx="1206970" cy="576000"/>
          </a:xfrm>
          <a:prstGeom prst="rect">
            <a:avLst/>
          </a:prstGeom>
        </p:spPr>
      </p:pic>
      <p:sp>
        <p:nvSpPr>
          <p:cNvPr id="56" name="Rechteck 55">
            <a:extLst>
              <a:ext uri="{FF2B5EF4-FFF2-40B4-BE49-F238E27FC236}">
                <a16:creationId xmlns:a16="http://schemas.microsoft.com/office/drawing/2014/main" id="{D6D19EF3-E3B1-5038-2F25-940A9A429BC4}"/>
              </a:ext>
            </a:extLst>
          </p:cNvPr>
          <p:cNvSpPr/>
          <p:nvPr/>
        </p:nvSpPr>
        <p:spPr>
          <a:xfrm>
            <a:off x="5481775" y="5160068"/>
            <a:ext cx="1146964" cy="224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Netgen/NGSolve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54E6AF3D-F846-6818-E26C-EEF1557B6C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037" y="4580527"/>
            <a:ext cx="661926" cy="562013"/>
          </a:xfrm>
          <a:prstGeom prst="rect">
            <a:avLst/>
          </a:prstGeom>
          <a:ln>
            <a:noFill/>
          </a:ln>
        </p:spPr>
      </p:pic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287BADE0-0A29-F219-A5B6-7FCE07F430D4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6352445" y="2421000"/>
            <a:ext cx="552588" cy="144000"/>
          </a:xfrm>
          <a:prstGeom prst="straightConnector1">
            <a:avLst/>
          </a:prstGeom>
          <a:ln cap="rnd">
            <a:solidFill>
              <a:schemeClr val="tx1"/>
            </a:solidFill>
            <a:round/>
            <a:headEnd type="none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5E03C2AD-6628-1BA8-62B7-25DD8DE9A4B5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5160000" y="2565000"/>
            <a:ext cx="674517" cy="139800"/>
          </a:xfrm>
          <a:prstGeom prst="straightConnector1">
            <a:avLst/>
          </a:prstGeom>
          <a:ln cap="rnd">
            <a:solidFill>
              <a:schemeClr val="tx1"/>
            </a:solidFill>
            <a:round/>
            <a:headEnd type="none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93D986FD-E9C9-F725-6215-C6CD47AED552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6060000" y="3299460"/>
            <a:ext cx="287460" cy="633540"/>
          </a:xfrm>
          <a:prstGeom prst="straightConnector1">
            <a:avLst/>
          </a:prstGeom>
          <a:ln cap="rnd">
            <a:solidFill>
              <a:schemeClr val="tx1"/>
            </a:solidFill>
            <a:round/>
            <a:headEnd type="none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Verbinder: gewinkelt 80">
            <a:extLst>
              <a:ext uri="{FF2B5EF4-FFF2-40B4-BE49-F238E27FC236}">
                <a16:creationId xmlns:a16="http://schemas.microsoft.com/office/drawing/2014/main" id="{36148B9F-F4FC-934C-B545-AE4F221CC7E9}"/>
              </a:ext>
            </a:extLst>
          </p:cNvPr>
          <p:cNvCxnSpPr>
            <a:stCxn id="11" idx="2"/>
            <a:endCxn id="21" idx="1"/>
          </p:cNvCxnSpPr>
          <p:nvPr/>
        </p:nvCxnSpPr>
        <p:spPr>
          <a:xfrm rot="16200000" flipH="1">
            <a:off x="4170000" y="3015000"/>
            <a:ext cx="1368000" cy="1044000"/>
          </a:xfrm>
          <a:prstGeom prst="bentConnector2">
            <a:avLst/>
          </a:prstGeom>
          <a:ln>
            <a:solidFill>
              <a:schemeClr val="accent6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Verbinder: gewinkelt 81">
            <a:extLst>
              <a:ext uri="{FF2B5EF4-FFF2-40B4-BE49-F238E27FC236}">
                <a16:creationId xmlns:a16="http://schemas.microsoft.com/office/drawing/2014/main" id="{F813F171-CEA8-ECE3-FB5F-BC31041D8C2A}"/>
              </a:ext>
            </a:extLst>
          </p:cNvPr>
          <p:cNvCxnSpPr>
            <a:cxnSpLocks/>
            <a:stCxn id="14" idx="2"/>
            <a:endCxn id="21" idx="3"/>
          </p:cNvCxnSpPr>
          <p:nvPr/>
        </p:nvCxnSpPr>
        <p:spPr>
          <a:xfrm rot="5400000">
            <a:off x="6662517" y="2934483"/>
            <a:ext cx="1368000" cy="1205034"/>
          </a:xfrm>
          <a:prstGeom prst="bentConnector2">
            <a:avLst/>
          </a:prstGeom>
          <a:ln>
            <a:solidFill>
              <a:schemeClr val="accent6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Verbinder: gewinkelt 84">
            <a:extLst>
              <a:ext uri="{FF2B5EF4-FFF2-40B4-BE49-F238E27FC236}">
                <a16:creationId xmlns:a16="http://schemas.microsoft.com/office/drawing/2014/main" id="{8D907944-3EBB-1336-FDD3-9F37BD781D90}"/>
              </a:ext>
            </a:extLst>
          </p:cNvPr>
          <p:cNvCxnSpPr>
            <a:cxnSpLocks/>
            <a:stCxn id="11" idx="0"/>
            <a:endCxn id="14" idx="0"/>
          </p:cNvCxnSpPr>
          <p:nvPr/>
        </p:nvCxnSpPr>
        <p:spPr>
          <a:xfrm rot="5400000" flipH="1" flipV="1">
            <a:off x="6140517" y="468483"/>
            <a:ext cx="12700" cy="3617034"/>
          </a:xfrm>
          <a:prstGeom prst="bentConnector3">
            <a:avLst>
              <a:gd name="adj1" fmla="val 8100000"/>
            </a:avLst>
          </a:prstGeom>
          <a:ln cap="rnd" cmpd="sng">
            <a:solidFill>
              <a:schemeClr val="accent6"/>
            </a:solidFill>
            <a:prstDash val="sysDash"/>
            <a:round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7B67FC61-0AB7-2BC7-31D0-ADED54817D9F}"/>
              </a:ext>
            </a:extLst>
          </p:cNvPr>
          <p:cNvSpPr/>
          <p:nvPr/>
        </p:nvSpPr>
        <p:spPr>
          <a:xfrm>
            <a:off x="491815" y="3102172"/>
            <a:ext cx="1800000" cy="887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Human Biomechanics</a:t>
            </a:r>
          </a:p>
          <a:p>
            <a:pPr algn="ctr"/>
            <a:r>
              <a:rPr lang="en-US" sz="1100" i="1" dirty="0"/>
              <a:t>Musculoskeletal Modelling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7BDD7F9B-42D2-B618-D0B8-AABD8F6452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5" y="4141533"/>
            <a:ext cx="720000" cy="720000"/>
          </a:xfrm>
          <a:prstGeom prst="rect">
            <a:avLst/>
          </a:prstGeom>
        </p:spPr>
      </p:pic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410BBF4-75A0-EF5F-D456-2EBFA702FC6C}"/>
              </a:ext>
            </a:extLst>
          </p:cNvPr>
          <p:cNvSpPr/>
          <p:nvPr/>
        </p:nvSpPr>
        <p:spPr>
          <a:xfrm>
            <a:off x="486339" y="830943"/>
            <a:ext cx="1800000" cy="191082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710C1C-BC99-D5CF-C202-E70B62B14C22}"/>
              </a:ext>
            </a:extLst>
          </p:cNvPr>
          <p:cNvSpPr/>
          <p:nvPr/>
        </p:nvSpPr>
        <p:spPr>
          <a:xfrm>
            <a:off x="486339" y="830943"/>
            <a:ext cx="1800000" cy="887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Structural Mechanics</a:t>
            </a:r>
          </a:p>
          <a:p>
            <a:pPr algn="ctr"/>
            <a:r>
              <a:rPr lang="en-US" sz="1100" i="1" dirty="0"/>
              <a:t>Finite Element</a:t>
            </a:r>
          </a:p>
          <a:p>
            <a:pPr algn="ctr"/>
            <a:r>
              <a:rPr lang="en-US" sz="1100" i="1" dirty="0"/>
              <a:t>Analysis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F97328-7A7F-32A4-BFEB-9D1CCDA846F0}"/>
              </a:ext>
            </a:extLst>
          </p:cNvPr>
          <p:cNvSpPr/>
          <p:nvPr/>
        </p:nvSpPr>
        <p:spPr>
          <a:xfrm>
            <a:off x="805876" y="2416121"/>
            <a:ext cx="1146964" cy="224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Netgen/NGSolve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779E5DE-E5A2-704F-10C3-56A8A5F30E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38" y="1836580"/>
            <a:ext cx="661926" cy="562013"/>
          </a:xfrm>
          <a:prstGeom prst="rect">
            <a:avLst/>
          </a:prstGeom>
          <a:ln>
            <a:noFill/>
          </a:ln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6EA8124A-134E-1D4F-A2B1-04A76026CE19}"/>
              </a:ext>
            </a:extLst>
          </p:cNvPr>
          <p:cNvSpPr/>
          <p:nvPr/>
        </p:nvSpPr>
        <p:spPr>
          <a:xfrm>
            <a:off x="9319098" y="3893575"/>
            <a:ext cx="1800000" cy="887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Actuators, Control, and Sensors</a:t>
            </a:r>
          </a:p>
          <a:p>
            <a:pPr algn="ctr"/>
            <a:r>
              <a:rPr lang="en-US" sz="1100" i="1" dirty="0"/>
              <a:t>Equation-based</a:t>
            </a:r>
            <a:br>
              <a:rPr lang="en-US" sz="1100" i="1" dirty="0"/>
            </a:br>
            <a:r>
              <a:rPr lang="en-US" sz="1100" i="1" dirty="0"/>
              <a:t>Modelling</a:t>
            </a:r>
          </a:p>
        </p:txBody>
      </p:sp>
    </p:spTree>
    <p:extLst>
      <p:ext uri="{BB962C8B-B14F-4D97-AF65-F5344CB8AC3E}">
        <p14:creationId xmlns:p14="http://schemas.microsoft.com/office/powerpoint/2010/main" val="597118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9ED17-4BF9-FD88-DB7F-D3144F1ED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E48E2F64-4CBC-73BB-37B0-4C847F6C7102}"/>
              </a:ext>
            </a:extLst>
          </p:cNvPr>
          <p:cNvGrpSpPr/>
          <p:nvPr/>
        </p:nvGrpSpPr>
        <p:grpSpPr>
          <a:xfrm>
            <a:off x="3575678" y="702787"/>
            <a:ext cx="5040644" cy="5452425"/>
            <a:chOff x="3000000" y="560220"/>
            <a:chExt cx="6102402" cy="7095922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24E3B070-1130-1492-D0C4-ED6B98998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13" t="15629" r="27315" b="7880"/>
            <a:stretch>
              <a:fillRect/>
            </a:stretch>
          </p:blipFill>
          <p:spPr>
            <a:xfrm>
              <a:off x="3000000" y="560220"/>
              <a:ext cx="5930695" cy="6751530"/>
            </a:xfrm>
            <a:prstGeom prst="rect">
              <a:avLst/>
            </a:prstGeom>
          </p:spPr>
        </p:pic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9C8E5FE5-2F7D-2707-64F5-8F9407CD683B}"/>
                </a:ext>
              </a:extLst>
            </p:cNvPr>
            <p:cNvSpPr/>
            <p:nvPr/>
          </p:nvSpPr>
          <p:spPr>
            <a:xfrm>
              <a:off x="3000000" y="7363688"/>
              <a:ext cx="6102402" cy="292454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DFA4C017-76D1-8E2B-8604-82A8798726FA}"/>
                </a:ext>
              </a:extLst>
            </p:cNvPr>
            <p:cNvCxnSpPr>
              <a:cxnSpLocks/>
            </p:cNvCxnSpPr>
            <p:nvPr/>
          </p:nvCxnSpPr>
          <p:spPr>
            <a:xfrm>
              <a:off x="3000000" y="7311749"/>
              <a:ext cx="610240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08DA8B8C-5F39-F8FA-7711-541AFE71AA8A}"/>
              </a:ext>
            </a:extLst>
          </p:cNvPr>
          <p:cNvGrpSpPr/>
          <p:nvPr/>
        </p:nvGrpSpPr>
        <p:grpSpPr>
          <a:xfrm>
            <a:off x="2784000" y="1072575"/>
            <a:ext cx="1800000" cy="1908000"/>
            <a:chOff x="491815" y="3102172"/>
            <a:chExt cx="1800000" cy="1908000"/>
          </a:xfrm>
        </p:grpSpPr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0EFD4CDB-9930-B03F-8C81-4F3A9DB05E2F}"/>
                </a:ext>
              </a:extLst>
            </p:cNvPr>
            <p:cNvSpPr/>
            <p:nvPr/>
          </p:nvSpPr>
          <p:spPr>
            <a:xfrm>
              <a:off x="491815" y="3102172"/>
              <a:ext cx="1800000" cy="1908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C3736DB9-BED6-16A7-DDD4-8DAAD535A29C}"/>
                </a:ext>
              </a:extLst>
            </p:cNvPr>
            <p:cNvSpPr/>
            <p:nvPr/>
          </p:nvSpPr>
          <p:spPr>
            <a:xfrm>
              <a:off x="491815" y="3102172"/>
              <a:ext cx="1800000" cy="8878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b="1" dirty="0"/>
                <a:t>Human Biomechanics</a:t>
              </a:r>
            </a:p>
            <a:p>
              <a:pPr algn="ctr"/>
              <a:r>
                <a:rPr lang="en-US" sz="1400" i="1" dirty="0"/>
                <a:t>Musculoskeletal Modelling</a:t>
              </a:r>
            </a:p>
          </p:txBody>
        </p:sp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3AC9D73B-CFF4-5F41-87D8-2AD618612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1815" y="4141533"/>
              <a:ext cx="720000" cy="720000"/>
            </a:xfrm>
            <a:prstGeom prst="rect">
              <a:avLst/>
            </a:prstGeom>
          </p:spPr>
        </p:pic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C3317C88-4E66-AD1D-7E45-099E304A91C9}"/>
              </a:ext>
            </a:extLst>
          </p:cNvPr>
          <p:cNvGrpSpPr/>
          <p:nvPr/>
        </p:nvGrpSpPr>
        <p:grpSpPr>
          <a:xfrm>
            <a:off x="5196000" y="3789000"/>
            <a:ext cx="1800000" cy="1908000"/>
            <a:chOff x="486339" y="830943"/>
            <a:chExt cx="1800000" cy="1908000"/>
          </a:xfrm>
        </p:grpSpPr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5718BC71-A781-710C-F39D-846A2D99D0D3}"/>
                </a:ext>
              </a:extLst>
            </p:cNvPr>
            <p:cNvSpPr/>
            <p:nvPr/>
          </p:nvSpPr>
          <p:spPr>
            <a:xfrm>
              <a:off x="486339" y="830943"/>
              <a:ext cx="1800000" cy="1908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BF8A34A0-89A3-6F18-2CA2-A4ABABE521F6}"/>
                </a:ext>
              </a:extLst>
            </p:cNvPr>
            <p:cNvSpPr/>
            <p:nvPr/>
          </p:nvSpPr>
          <p:spPr>
            <a:xfrm>
              <a:off x="486339" y="830943"/>
              <a:ext cx="1800000" cy="8878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b="1" dirty="0"/>
                <a:t>Structural Mechanics</a:t>
              </a:r>
            </a:p>
            <a:p>
              <a:pPr algn="ctr"/>
              <a:r>
                <a:rPr lang="en-US" sz="1400" i="1" dirty="0"/>
                <a:t>Finite Element</a:t>
              </a:r>
            </a:p>
            <a:p>
              <a:pPr algn="ctr"/>
              <a:r>
                <a:rPr lang="en-US" sz="1400" i="1" dirty="0"/>
                <a:t>Analysis</a:t>
              </a: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2AB75C52-EEFF-E059-C4C5-81C0559ACA66}"/>
                </a:ext>
              </a:extLst>
            </p:cNvPr>
            <p:cNvSpPr/>
            <p:nvPr/>
          </p:nvSpPr>
          <p:spPr>
            <a:xfrm>
              <a:off x="777797" y="2479778"/>
              <a:ext cx="1228463" cy="2240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Netgen/NGSolve</a:t>
              </a:r>
            </a:p>
          </p:txBody>
        </p:sp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E76E33FE-6DE8-42DD-9A13-645685209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3138" y="1924930"/>
              <a:ext cx="661926" cy="562013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98DA7E28-A70D-1598-0593-6F28B761EF91}"/>
              </a:ext>
            </a:extLst>
          </p:cNvPr>
          <p:cNvGrpSpPr/>
          <p:nvPr/>
        </p:nvGrpSpPr>
        <p:grpSpPr>
          <a:xfrm>
            <a:off x="7606680" y="1072575"/>
            <a:ext cx="1801320" cy="1908000"/>
            <a:chOff x="6146867" y="1267762"/>
            <a:chExt cx="1801320" cy="1908000"/>
          </a:xfrm>
        </p:grpSpPr>
        <p:cxnSp>
          <p:nvCxnSpPr>
            <p:cNvPr id="73" name="Gerade Verbindung mit Pfeil 72">
              <a:extLst>
                <a:ext uri="{FF2B5EF4-FFF2-40B4-BE49-F238E27FC236}">
                  <a16:creationId xmlns:a16="http://schemas.microsoft.com/office/drawing/2014/main" id="{1BC39A89-30A4-43C6-B0EF-48903FC15B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52445" y="2421000"/>
              <a:ext cx="552588" cy="144000"/>
            </a:xfrm>
            <a:prstGeom prst="straightConnector1">
              <a:avLst/>
            </a:prstGeom>
            <a:ln cap="rnd">
              <a:solidFill>
                <a:schemeClr val="tx1"/>
              </a:solidFill>
              <a:round/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2EE593DD-A60D-3B9B-24C0-2493F1706B05}"/>
                </a:ext>
              </a:extLst>
            </p:cNvPr>
            <p:cNvGrpSpPr/>
            <p:nvPr/>
          </p:nvGrpSpPr>
          <p:grpSpPr>
            <a:xfrm>
              <a:off x="6146867" y="1267762"/>
              <a:ext cx="1801320" cy="1908000"/>
              <a:chOff x="9297170" y="3893575"/>
              <a:chExt cx="1801320" cy="1908000"/>
            </a:xfrm>
          </p:grpSpPr>
          <p:sp>
            <p:nvSpPr>
              <p:cNvPr id="12" name="Rechteck: abgerundete Ecken 11">
                <a:extLst>
                  <a:ext uri="{FF2B5EF4-FFF2-40B4-BE49-F238E27FC236}">
                    <a16:creationId xmlns:a16="http://schemas.microsoft.com/office/drawing/2014/main" id="{3DAD4C79-A4C6-BD1C-991B-2F2E9A0575C1}"/>
                  </a:ext>
                </a:extLst>
              </p:cNvPr>
              <p:cNvSpPr/>
              <p:nvPr/>
            </p:nvSpPr>
            <p:spPr>
              <a:xfrm>
                <a:off x="9298490" y="3893575"/>
                <a:ext cx="1800000" cy="19080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hteck 14">
                <a:extLst>
                  <a:ext uri="{FF2B5EF4-FFF2-40B4-BE49-F238E27FC236}">
                    <a16:creationId xmlns:a16="http://schemas.microsoft.com/office/drawing/2014/main" id="{FFAC0D30-C7A1-98D3-A615-CB9E791B9CE4}"/>
                  </a:ext>
                </a:extLst>
              </p:cNvPr>
              <p:cNvSpPr/>
              <p:nvPr/>
            </p:nvSpPr>
            <p:spPr>
              <a:xfrm>
                <a:off x="9297170" y="3893575"/>
                <a:ext cx="1800000" cy="88789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b="1" dirty="0"/>
                  <a:t>Actuators, Control, and Sensors</a:t>
                </a:r>
              </a:p>
              <a:p>
                <a:pPr algn="ctr"/>
                <a:r>
                  <a:rPr lang="en-US" sz="1400" i="1" dirty="0"/>
                  <a:t>Equation-based</a:t>
                </a:r>
                <a:br>
                  <a:rPr lang="en-US" sz="1400" i="1" dirty="0"/>
                </a:br>
                <a:r>
                  <a:rPr lang="en-US" sz="1400" i="1" dirty="0"/>
                  <a:t>Modelling</a:t>
                </a:r>
              </a:p>
            </p:txBody>
          </p:sp>
          <p:pic>
            <p:nvPicPr>
              <p:cNvPr id="36" name="Grafik 35">
                <a:extLst>
                  <a:ext uri="{FF2B5EF4-FFF2-40B4-BE49-F238E27FC236}">
                    <a16:creationId xmlns:a16="http://schemas.microsoft.com/office/drawing/2014/main" id="{3FD2FAC3-CCDA-B0ED-F0C0-E7CDB7832B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593685" y="5189583"/>
                <a:ext cx="1206970" cy="576000"/>
              </a:xfrm>
              <a:prstGeom prst="rect">
                <a:avLst/>
              </a:prstGeom>
            </p:spPr>
          </p:pic>
        </p:grpSp>
      </p:grpSp>
      <p:cxnSp>
        <p:nvCxnSpPr>
          <p:cNvPr id="22" name="Verbinder: gewinkelt 21">
            <a:extLst>
              <a:ext uri="{FF2B5EF4-FFF2-40B4-BE49-F238E27FC236}">
                <a16:creationId xmlns:a16="http://schemas.microsoft.com/office/drawing/2014/main" id="{5E1146F7-A6B4-057A-3651-1B76DDBFADD0}"/>
              </a:ext>
            </a:extLst>
          </p:cNvPr>
          <p:cNvCxnSpPr>
            <a:cxnSpLocks/>
            <a:stCxn id="3" idx="0"/>
            <a:endCxn id="15" idx="0"/>
          </p:cNvCxnSpPr>
          <p:nvPr/>
        </p:nvCxnSpPr>
        <p:spPr>
          <a:xfrm rot="5400000" flipH="1" flipV="1">
            <a:off x="6095340" y="-1338765"/>
            <a:ext cx="12700" cy="4822680"/>
          </a:xfrm>
          <a:prstGeom prst="bentConnector3">
            <a:avLst>
              <a:gd name="adj1" fmla="val 3545449"/>
            </a:avLst>
          </a:prstGeom>
          <a:ln w="38100" cap="rnd" cmpd="sng">
            <a:solidFill>
              <a:schemeClr val="accent6"/>
            </a:solidFill>
            <a:prstDash val="solid"/>
            <a:round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erbinder: gewinkelt 27">
            <a:extLst>
              <a:ext uri="{FF2B5EF4-FFF2-40B4-BE49-F238E27FC236}">
                <a16:creationId xmlns:a16="http://schemas.microsoft.com/office/drawing/2014/main" id="{9A7E935E-016B-EE11-F591-FE6A06118EF4}"/>
              </a:ext>
            </a:extLst>
          </p:cNvPr>
          <p:cNvCxnSpPr>
            <a:cxnSpLocks/>
            <a:stCxn id="4" idx="3"/>
            <a:endCxn id="12" idx="2"/>
          </p:cNvCxnSpPr>
          <p:nvPr/>
        </p:nvCxnSpPr>
        <p:spPr>
          <a:xfrm flipV="1">
            <a:off x="6996000" y="2980575"/>
            <a:ext cx="1512000" cy="1762425"/>
          </a:xfrm>
          <a:prstGeom prst="bentConnector2">
            <a:avLst/>
          </a:prstGeom>
          <a:ln w="38100" cap="rnd" cmpd="sng">
            <a:solidFill>
              <a:schemeClr val="accent6"/>
            </a:solidFill>
            <a:prstDash val="solid"/>
            <a:round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erbinder: gewinkelt 30">
            <a:extLst>
              <a:ext uri="{FF2B5EF4-FFF2-40B4-BE49-F238E27FC236}">
                <a16:creationId xmlns:a16="http://schemas.microsoft.com/office/drawing/2014/main" id="{633D6033-A38B-BAAC-5308-2274FD54325E}"/>
              </a:ext>
            </a:extLst>
          </p:cNvPr>
          <p:cNvCxnSpPr>
            <a:cxnSpLocks/>
            <a:stCxn id="3" idx="2"/>
            <a:endCxn id="4" idx="1"/>
          </p:cNvCxnSpPr>
          <p:nvPr/>
        </p:nvCxnSpPr>
        <p:spPr>
          <a:xfrm rot="16200000" flipH="1">
            <a:off x="3558788" y="3105787"/>
            <a:ext cx="1762425" cy="1512000"/>
          </a:xfrm>
          <a:prstGeom prst="bentConnector2">
            <a:avLst/>
          </a:prstGeom>
          <a:ln w="38100" cap="rnd" cmpd="sng">
            <a:solidFill>
              <a:schemeClr val="accent6"/>
            </a:solidFill>
            <a:prstDash val="solid"/>
            <a:round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EDA85594-A963-4C7F-8A90-2EDC743A3C50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584000" y="2026575"/>
            <a:ext cx="1440000" cy="332772"/>
          </a:xfrm>
          <a:prstGeom prst="straightConnector1">
            <a:avLst/>
          </a:prstGeom>
          <a:ln cap="rnd">
            <a:solidFill>
              <a:schemeClr val="tx1"/>
            </a:solidFill>
            <a:round/>
            <a:headEnd type="none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73676CF5-B0EA-17EB-664F-16CE9953E3D6}"/>
              </a:ext>
            </a:extLst>
          </p:cNvPr>
          <p:cNvCxnSpPr>
            <a:cxnSpLocks/>
          </p:cNvCxnSpPr>
          <p:nvPr/>
        </p:nvCxnSpPr>
        <p:spPr>
          <a:xfrm flipV="1">
            <a:off x="6096000" y="3069000"/>
            <a:ext cx="504000" cy="720000"/>
          </a:xfrm>
          <a:prstGeom prst="straightConnector1">
            <a:avLst/>
          </a:prstGeom>
          <a:ln cap="rnd">
            <a:solidFill>
              <a:schemeClr val="tx1"/>
            </a:solidFill>
            <a:round/>
            <a:headEnd type="none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6DC4479B-060E-B0A8-C04A-A4D5A8A0BC8A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6888000" y="2026575"/>
            <a:ext cx="720000" cy="343238"/>
          </a:xfrm>
          <a:prstGeom prst="straightConnector1">
            <a:avLst/>
          </a:prstGeom>
          <a:ln cap="rnd">
            <a:solidFill>
              <a:schemeClr val="tx1"/>
            </a:solidFill>
            <a:round/>
            <a:headEnd type="none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374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718E3-9564-E108-9253-5FDAF6AC8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47737836-BC39-DD7A-E174-701505C01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906" t="18913" r="27584" b="7880"/>
          <a:stretch>
            <a:fillRect/>
          </a:stretch>
        </p:blipFill>
        <p:spPr>
          <a:xfrm>
            <a:off x="2640000" y="188953"/>
            <a:ext cx="6125498" cy="648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85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83439-7806-E770-75E5-F7BA2A772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220B77-E201-52C3-04C9-F7BA172AF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92999"/>
          </a:xfrm>
        </p:spPr>
        <p:txBody>
          <a:bodyPr>
            <a:noAutofit/>
          </a:bodyPr>
          <a:lstStyle/>
          <a:p>
            <a:r>
              <a:rPr lang="en-US" sz="2800" dirty="0"/>
              <a:t>Multi-Fidelity Modeling and Runtime Model Switching</a:t>
            </a:r>
          </a:p>
        </p:txBody>
      </p:sp>
    </p:spTree>
    <p:extLst>
      <p:ext uri="{BB962C8B-B14F-4D97-AF65-F5344CB8AC3E}">
        <p14:creationId xmlns:p14="http://schemas.microsoft.com/office/powerpoint/2010/main" val="196543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F3F99-C880-ED2A-F30B-0ED70D9D6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eck 33">
            <a:extLst>
              <a:ext uri="{FF2B5EF4-FFF2-40B4-BE49-F238E27FC236}">
                <a16:creationId xmlns:a16="http://schemas.microsoft.com/office/drawing/2014/main" id="{5500E0F7-B2CB-2371-653A-7CEA50C88046}"/>
              </a:ext>
            </a:extLst>
          </p:cNvPr>
          <p:cNvSpPr/>
          <p:nvPr/>
        </p:nvSpPr>
        <p:spPr>
          <a:xfrm>
            <a:off x="6758424" y="1269000"/>
            <a:ext cx="5147764" cy="2471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645A7E-AC04-DE09-7E45-5E56D408E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04" y="0"/>
            <a:ext cx="10515600" cy="332999"/>
          </a:xfrm>
        </p:spPr>
        <p:txBody>
          <a:bodyPr>
            <a:noAutofit/>
          </a:bodyPr>
          <a:lstStyle/>
          <a:p>
            <a:r>
              <a:rPr lang="en-US" sz="2800" dirty="0"/>
              <a:t>Requirements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59EAB56-AD41-5311-BAC0-FEEB9FE8780D}"/>
              </a:ext>
            </a:extLst>
          </p:cNvPr>
          <p:cNvSpPr/>
          <p:nvPr/>
        </p:nvSpPr>
        <p:spPr>
          <a:xfrm>
            <a:off x="336000" y="1269000"/>
            <a:ext cx="5040000" cy="18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Subsystem models = Components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Physical Units for Variables and Parameters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Systems as connected Subsystems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Continuous, discrete, and hybrid Behavior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03C5324-0AEC-2AC3-33DB-B2630400E246}"/>
              </a:ext>
            </a:extLst>
          </p:cNvPr>
          <p:cNvSpPr/>
          <p:nvPr/>
        </p:nvSpPr>
        <p:spPr>
          <a:xfrm>
            <a:off x="337848" y="549000"/>
            <a:ext cx="5040000" cy="57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 Modeling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A007138-F2E6-B11D-C889-83259C9E450B}"/>
              </a:ext>
            </a:extLst>
          </p:cNvPr>
          <p:cNvSpPr/>
          <p:nvPr/>
        </p:nvSpPr>
        <p:spPr>
          <a:xfrm>
            <a:off x="336000" y="4437000"/>
            <a:ext cx="5040000" cy="18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Subsystem models = Components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Physical Units for Variables and Parameters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Systems as connected Subsystems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Continuous, discrete, and hybrid Behavior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DCF9383-03E7-B678-CA1A-9E469CB24360}"/>
              </a:ext>
            </a:extLst>
          </p:cNvPr>
          <p:cNvSpPr/>
          <p:nvPr/>
        </p:nvSpPr>
        <p:spPr>
          <a:xfrm>
            <a:off x="337848" y="3717000"/>
            <a:ext cx="5040000" cy="57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Simulation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9FBC178-AC85-D090-ED7D-663F9BA32950}"/>
              </a:ext>
            </a:extLst>
          </p:cNvPr>
          <p:cNvSpPr/>
          <p:nvPr/>
        </p:nvSpPr>
        <p:spPr>
          <a:xfrm>
            <a:off x="6812306" y="549000"/>
            <a:ext cx="5040000" cy="57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Heterogenous Integration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25D9FA7-62FA-AA89-C9FC-E275879E4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6226" y="1324807"/>
            <a:ext cx="848000" cy="72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A239E8F0-F83F-FD38-BD10-7D115FED5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000" y="1324807"/>
            <a:ext cx="720000" cy="72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2F3CD257-7F00-B4D3-415F-BBEB3A887DE6}"/>
              </a:ext>
            </a:extLst>
          </p:cNvPr>
          <p:cNvCxnSpPr>
            <a:cxnSpLocks/>
            <a:stCxn id="15" idx="1"/>
            <a:endCxn id="17" idx="3"/>
          </p:cNvCxnSpPr>
          <p:nvPr/>
        </p:nvCxnSpPr>
        <p:spPr>
          <a:xfrm flipH="1">
            <a:off x="7608000" y="1684807"/>
            <a:ext cx="3368226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Grafik 35">
            <a:extLst>
              <a:ext uri="{FF2B5EF4-FFF2-40B4-BE49-F238E27FC236}">
                <a16:creationId xmlns:a16="http://schemas.microsoft.com/office/drawing/2014/main" id="{67503CD0-0579-6026-7095-75909D2E2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5964" y="2862445"/>
            <a:ext cx="1432684" cy="7193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B78B7610-0D54-322B-259D-FAAD64EF04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64058" y="2255047"/>
            <a:ext cx="943894" cy="278795"/>
          </a:xfrm>
          <a:prstGeom prst="rect">
            <a:avLst/>
          </a:prstGeom>
        </p:spPr>
      </p:pic>
      <p:cxnSp>
        <p:nvCxnSpPr>
          <p:cNvPr id="54" name="Verbinder: gewinkelt 53">
            <a:extLst>
              <a:ext uri="{FF2B5EF4-FFF2-40B4-BE49-F238E27FC236}">
                <a16:creationId xmlns:a16="http://schemas.microsoft.com/office/drawing/2014/main" id="{C972359C-DD0C-5B4C-6331-9A0C482F912C}"/>
              </a:ext>
            </a:extLst>
          </p:cNvPr>
          <p:cNvCxnSpPr>
            <a:stCxn id="17" idx="2"/>
            <a:endCxn id="36" idx="1"/>
          </p:cNvCxnSpPr>
          <p:nvPr/>
        </p:nvCxnSpPr>
        <p:spPr>
          <a:xfrm rot="16200000" flipH="1">
            <a:off x="7343316" y="1949491"/>
            <a:ext cx="1177333" cy="1367964"/>
          </a:xfrm>
          <a:prstGeom prst="bentConnector2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Verbinder: gewinkelt 54">
            <a:extLst>
              <a:ext uri="{FF2B5EF4-FFF2-40B4-BE49-F238E27FC236}">
                <a16:creationId xmlns:a16="http://schemas.microsoft.com/office/drawing/2014/main" id="{8A93F1BB-5AC4-DDD0-18EE-67983F53EC9B}"/>
              </a:ext>
            </a:extLst>
          </p:cNvPr>
          <p:cNvCxnSpPr>
            <a:cxnSpLocks/>
            <a:stCxn id="15" idx="2"/>
            <a:endCxn id="36" idx="3"/>
          </p:cNvCxnSpPr>
          <p:nvPr/>
        </p:nvCxnSpPr>
        <p:spPr>
          <a:xfrm rot="5400000">
            <a:off x="10135771" y="1957684"/>
            <a:ext cx="1177333" cy="1351578"/>
          </a:xfrm>
          <a:prstGeom prst="bentConnector2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98D585FD-AE21-B8A2-96F6-CDD6CF4420F1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608000" y="1684807"/>
            <a:ext cx="1298830" cy="658518"/>
          </a:xfrm>
          <a:prstGeom prst="straightConnector1">
            <a:avLst/>
          </a:prstGeom>
          <a:ln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66A94824-11EA-FB00-F47A-41DC1884DBCD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9840000" y="1684807"/>
            <a:ext cx="1136226" cy="709637"/>
          </a:xfrm>
          <a:prstGeom prst="straightConnector1">
            <a:avLst/>
          </a:prstGeom>
          <a:ln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C92D4C4B-3871-AD26-48BA-311147165C7E}"/>
              </a:ext>
            </a:extLst>
          </p:cNvPr>
          <p:cNvCxnSpPr>
            <a:cxnSpLocks/>
          </p:cNvCxnSpPr>
          <p:nvPr/>
        </p:nvCxnSpPr>
        <p:spPr>
          <a:xfrm>
            <a:off x="9376211" y="2504765"/>
            <a:ext cx="0" cy="337923"/>
          </a:xfrm>
          <a:prstGeom prst="straightConnector1">
            <a:avLst/>
          </a:prstGeom>
          <a:ln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424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108</Words>
  <Application>Microsoft Office PowerPoint</Application>
  <PresentationFormat>Breitbild</PresentationFormat>
  <Paragraphs>33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PowerPoint-Präsentation</vt:lpstr>
      <vt:lpstr>PowerPoint-Präsentation</vt:lpstr>
      <vt:lpstr>PowerPoint-Präsentation</vt:lpstr>
      <vt:lpstr>Multi-Fidelity Modeling and Runtime Model Switching</vt:lpstr>
      <vt:lpstr>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Frech</dc:creator>
  <cp:lastModifiedBy>Florian Frech</cp:lastModifiedBy>
  <cp:revision>4</cp:revision>
  <dcterms:created xsi:type="dcterms:W3CDTF">2026-05-29T12:06:55Z</dcterms:created>
  <dcterms:modified xsi:type="dcterms:W3CDTF">2026-06-03T11:53:16Z</dcterms:modified>
</cp:coreProperties>
</file>