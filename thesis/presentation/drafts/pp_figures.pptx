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7" r:id="rId2"/>
    <p:sldId id="256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4" pos="55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727A"/>
    <a:srgbClr val="156082"/>
    <a:srgbClr val="899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226" autoAdjust="0"/>
    <p:restoredTop sz="94660"/>
  </p:normalViewPr>
  <p:slideViewPr>
    <p:cSldViewPr showGuides="1">
      <p:cViewPr varScale="1">
        <p:scale>
          <a:sx n="105" d="100"/>
          <a:sy n="105" d="100"/>
        </p:scale>
        <p:origin x="1224" y="96"/>
      </p:cViewPr>
      <p:guideLst>
        <p:guide orient="horz" pos="2160"/>
        <p:guide pos="55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A37A7-B63D-4321-98B8-DB37342017D6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A4712-7769-4FC4-AB79-2791DF568F0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756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A37A7-B63D-4321-98B8-DB37342017D6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A4712-7769-4FC4-AB79-2791DF568F0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956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A37A7-B63D-4321-98B8-DB37342017D6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A4712-7769-4FC4-AB79-2791DF568F0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5675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A37A7-B63D-4321-98B8-DB37342017D6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A4712-7769-4FC4-AB79-2791DF568F0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377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A37A7-B63D-4321-98B8-DB37342017D6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A4712-7769-4FC4-AB79-2791DF568F0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569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A37A7-B63D-4321-98B8-DB37342017D6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A4712-7769-4FC4-AB79-2791DF568F0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13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A37A7-B63D-4321-98B8-DB37342017D6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A4712-7769-4FC4-AB79-2791DF568F0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149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A37A7-B63D-4321-98B8-DB37342017D6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A4712-7769-4FC4-AB79-2791DF568F0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184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A37A7-B63D-4321-98B8-DB37342017D6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A4712-7769-4FC4-AB79-2791DF568F0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40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A37A7-B63D-4321-98B8-DB37342017D6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A4712-7769-4FC4-AB79-2791DF568F0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507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A37A7-B63D-4321-98B8-DB37342017D6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A4712-7769-4FC4-AB79-2791DF568F0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984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A37A7-B63D-4321-98B8-DB37342017D6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4A4712-7769-4FC4-AB79-2791DF568F0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897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svg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4.png"/><Relationship Id="rId9" Type="http://schemas.openxmlformats.org/officeDocument/2006/relationships/image" Target="../media/image1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718E3-9564-E108-9253-5FDAF6AC8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47737836-BC39-DD7A-E174-701505C017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9906" t="18913" r="27584" b="7880"/>
          <a:stretch>
            <a:fillRect/>
          </a:stretch>
        </p:blipFill>
        <p:spPr>
          <a:xfrm>
            <a:off x="2640000" y="188953"/>
            <a:ext cx="6125498" cy="6480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8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9E737010-3F8B-BFDD-0534-81E95CE8A604}"/>
              </a:ext>
            </a:extLst>
          </p:cNvPr>
          <p:cNvSpPr/>
          <p:nvPr/>
        </p:nvSpPr>
        <p:spPr>
          <a:xfrm>
            <a:off x="9298490" y="3893575"/>
            <a:ext cx="1800000" cy="191082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C8506320-D03E-0C0D-9A50-6F8B3A9D8BCB}"/>
              </a:ext>
            </a:extLst>
          </p:cNvPr>
          <p:cNvSpPr/>
          <p:nvPr/>
        </p:nvSpPr>
        <p:spPr>
          <a:xfrm>
            <a:off x="491815" y="3102172"/>
            <a:ext cx="1800000" cy="191082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AE525B32-A7BC-4D83-AC8E-469EB101E3D3}"/>
              </a:ext>
            </a:extLst>
          </p:cNvPr>
          <p:cNvGrpSpPr/>
          <p:nvPr/>
        </p:nvGrpSpPr>
        <p:grpSpPr>
          <a:xfrm>
            <a:off x="3861189" y="1386862"/>
            <a:ext cx="3946656" cy="4482134"/>
            <a:chOff x="3000000" y="560220"/>
            <a:chExt cx="5040000" cy="6036780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7170F316-C7C0-02C9-7FD3-A7E1EE79AB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13" t="15629" r="27315" b="7880"/>
            <a:stretch>
              <a:fillRect/>
            </a:stretch>
          </p:blipFill>
          <p:spPr>
            <a:xfrm>
              <a:off x="3000000" y="560220"/>
              <a:ext cx="5040000" cy="5737559"/>
            </a:xfrm>
            <a:prstGeom prst="rect">
              <a:avLst/>
            </a:prstGeom>
          </p:spPr>
        </p:pic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FE1BE24A-FCD8-5950-995C-B422DF852008}"/>
                </a:ext>
              </a:extLst>
            </p:cNvPr>
            <p:cNvSpPr/>
            <p:nvPr/>
          </p:nvSpPr>
          <p:spPr>
            <a:xfrm>
              <a:off x="3000000" y="6304547"/>
              <a:ext cx="5040000" cy="292453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8178773-B45C-2762-0E1E-3C899AFB7FE5}"/>
                </a:ext>
              </a:extLst>
            </p:cNvPr>
            <p:cNvCxnSpPr/>
            <p:nvPr/>
          </p:nvCxnSpPr>
          <p:spPr>
            <a:xfrm>
              <a:off x="3000000" y="6304547"/>
              <a:ext cx="5040000" cy="0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9111A691-B1D0-C3A8-3352-01F1F5C29A0C}"/>
              </a:ext>
            </a:extLst>
          </p:cNvPr>
          <p:cNvSpPr/>
          <p:nvPr/>
        </p:nvSpPr>
        <p:spPr>
          <a:xfrm>
            <a:off x="3504000" y="2277000"/>
            <a:ext cx="1656000" cy="57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Biomechanics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2E321C3-C678-5FC0-A150-615E2FA5A0A3}"/>
              </a:ext>
            </a:extLst>
          </p:cNvPr>
          <p:cNvSpPr/>
          <p:nvPr/>
        </p:nvSpPr>
        <p:spPr>
          <a:xfrm>
            <a:off x="6905033" y="2277000"/>
            <a:ext cx="2088002" cy="57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Actuators, Control and Sensors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7FD78E22-67C8-1572-D9CE-446B6F7CB039}"/>
              </a:ext>
            </a:extLst>
          </p:cNvPr>
          <p:cNvSpPr/>
          <p:nvPr/>
        </p:nvSpPr>
        <p:spPr>
          <a:xfrm>
            <a:off x="5376000" y="3933000"/>
            <a:ext cx="1368000" cy="57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Structural Mechanics</a:t>
            </a:r>
          </a:p>
        </p:txBody>
      </p:sp>
      <p:pic>
        <p:nvPicPr>
          <p:cNvPr id="36" name="Grafik 35">
            <a:extLst>
              <a:ext uri="{FF2B5EF4-FFF2-40B4-BE49-F238E27FC236}">
                <a16:creationId xmlns:a16="http://schemas.microsoft.com/office/drawing/2014/main" id="{E4039CFD-54FA-B349-F2EC-8AA7C8FD9E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24000" y="5157000"/>
            <a:ext cx="1206970" cy="576000"/>
          </a:xfrm>
          <a:prstGeom prst="rect">
            <a:avLst/>
          </a:prstGeom>
        </p:spPr>
      </p:pic>
      <p:sp>
        <p:nvSpPr>
          <p:cNvPr id="56" name="Rechteck 55">
            <a:extLst>
              <a:ext uri="{FF2B5EF4-FFF2-40B4-BE49-F238E27FC236}">
                <a16:creationId xmlns:a16="http://schemas.microsoft.com/office/drawing/2014/main" id="{D6D19EF3-E3B1-5038-2F25-940A9A429BC4}"/>
              </a:ext>
            </a:extLst>
          </p:cNvPr>
          <p:cNvSpPr/>
          <p:nvPr/>
        </p:nvSpPr>
        <p:spPr>
          <a:xfrm>
            <a:off x="5481775" y="5160068"/>
            <a:ext cx="1146964" cy="2240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Netgen/NGSolve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54E6AF3D-F846-6818-E26C-EEF1557B6C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037" y="4580527"/>
            <a:ext cx="661926" cy="562013"/>
          </a:xfrm>
          <a:prstGeom prst="rect">
            <a:avLst/>
          </a:prstGeom>
          <a:ln>
            <a:noFill/>
          </a:ln>
        </p:spPr>
      </p:pic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287BADE0-0A29-F219-A5B6-7FCE07F430D4}"/>
              </a:ext>
            </a:extLst>
          </p:cNvPr>
          <p:cNvCxnSpPr>
            <a:stCxn id="14" idx="1"/>
          </p:cNvCxnSpPr>
          <p:nvPr/>
        </p:nvCxnSpPr>
        <p:spPr>
          <a:xfrm flipH="1" flipV="1">
            <a:off x="6352445" y="2421000"/>
            <a:ext cx="552588" cy="144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none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5E03C2AD-6628-1BA8-62B7-25DD8DE9A4B5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5160000" y="2565000"/>
            <a:ext cx="674517" cy="139800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none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93D986FD-E9C9-F725-6215-C6CD47AED552}"/>
              </a:ext>
            </a:extLst>
          </p:cNvPr>
          <p:cNvCxnSpPr>
            <a:cxnSpLocks/>
            <a:stCxn id="21" idx="0"/>
          </p:cNvCxnSpPr>
          <p:nvPr/>
        </p:nvCxnSpPr>
        <p:spPr>
          <a:xfrm flipV="1">
            <a:off x="6060000" y="3299460"/>
            <a:ext cx="287460" cy="633540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none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Verbinder: gewinkelt 80">
            <a:extLst>
              <a:ext uri="{FF2B5EF4-FFF2-40B4-BE49-F238E27FC236}">
                <a16:creationId xmlns:a16="http://schemas.microsoft.com/office/drawing/2014/main" id="{36148B9F-F4FC-934C-B545-AE4F221CC7E9}"/>
              </a:ext>
            </a:extLst>
          </p:cNvPr>
          <p:cNvCxnSpPr>
            <a:stCxn id="11" idx="2"/>
            <a:endCxn id="21" idx="1"/>
          </p:cNvCxnSpPr>
          <p:nvPr/>
        </p:nvCxnSpPr>
        <p:spPr>
          <a:xfrm rot="16200000" flipH="1">
            <a:off x="4170000" y="3015000"/>
            <a:ext cx="1368000" cy="1044000"/>
          </a:xfrm>
          <a:prstGeom prst="bentConnector2">
            <a:avLst/>
          </a:prstGeom>
          <a:ln>
            <a:solidFill>
              <a:schemeClr val="accent6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F813F171-CEA8-ECE3-FB5F-BC31041D8C2A}"/>
              </a:ext>
            </a:extLst>
          </p:cNvPr>
          <p:cNvCxnSpPr>
            <a:cxnSpLocks/>
            <a:stCxn id="14" idx="2"/>
            <a:endCxn id="21" idx="3"/>
          </p:cNvCxnSpPr>
          <p:nvPr/>
        </p:nvCxnSpPr>
        <p:spPr>
          <a:xfrm rot="5400000">
            <a:off x="6662517" y="2934483"/>
            <a:ext cx="1368000" cy="1205034"/>
          </a:xfrm>
          <a:prstGeom prst="bentConnector2">
            <a:avLst/>
          </a:prstGeom>
          <a:ln>
            <a:solidFill>
              <a:schemeClr val="accent6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Verbinder: gewinkelt 84">
            <a:extLst>
              <a:ext uri="{FF2B5EF4-FFF2-40B4-BE49-F238E27FC236}">
                <a16:creationId xmlns:a16="http://schemas.microsoft.com/office/drawing/2014/main" id="{8D907944-3EBB-1336-FDD3-9F37BD781D90}"/>
              </a:ext>
            </a:extLst>
          </p:cNvPr>
          <p:cNvCxnSpPr>
            <a:cxnSpLocks/>
            <a:stCxn id="11" idx="0"/>
            <a:endCxn id="14" idx="0"/>
          </p:cNvCxnSpPr>
          <p:nvPr/>
        </p:nvCxnSpPr>
        <p:spPr>
          <a:xfrm rot="5400000" flipH="1" flipV="1">
            <a:off x="6140517" y="468483"/>
            <a:ext cx="12700" cy="3617034"/>
          </a:xfrm>
          <a:prstGeom prst="bentConnector3">
            <a:avLst>
              <a:gd name="adj1" fmla="val 8100000"/>
            </a:avLst>
          </a:prstGeom>
          <a:ln cap="rnd" cmpd="sng">
            <a:solidFill>
              <a:schemeClr val="accent6"/>
            </a:solidFill>
            <a:prstDash val="sysDash"/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7B67FC61-0AB7-2BC7-31D0-ADED54817D9F}"/>
              </a:ext>
            </a:extLst>
          </p:cNvPr>
          <p:cNvSpPr/>
          <p:nvPr/>
        </p:nvSpPr>
        <p:spPr>
          <a:xfrm>
            <a:off x="491815" y="3102172"/>
            <a:ext cx="1800000" cy="887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Human Biomechanics</a:t>
            </a:r>
          </a:p>
          <a:p>
            <a:pPr algn="ctr"/>
            <a:r>
              <a:rPr lang="en-US" sz="1100" i="1" dirty="0"/>
              <a:t>Musculoskeletal Modelling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7BDD7F9B-42D2-B618-D0B8-AABD8F64527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15" y="4141533"/>
            <a:ext cx="720000" cy="720000"/>
          </a:xfrm>
          <a:prstGeom prst="rect">
            <a:avLst/>
          </a:prstGeom>
        </p:spPr>
      </p:pic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8410BBF4-75A0-EF5F-D456-2EBFA702FC6C}"/>
              </a:ext>
            </a:extLst>
          </p:cNvPr>
          <p:cNvSpPr/>
          <p:nvPr/>
        </p:nvSpPr>
        <p:spPr>
          <a:xfrm>
            <a:off x="486339" y="830943"/>
            <a:ext cx="1800000" cy="191082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4710C1C-BC99-D5CF-C202-E70B62B14C22}"/>
              </a:ext>
            </a:extLst>
          </p:cNvPr>
          <p:cNvSpPr/>
          <p:nvPr/>
        </p:nvSpPr>
        <p:spPr>
          <a:xfrm>
            <a:off x="486339" y="830943"/>
            <a:ext cx="1800000" cy="887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Structural Mechanics</a:t>
            </a:r>
          </a:p>
          <a:p>
            <a:pPr algn="ctr"/>
            <a:r>
              <a:rPr lang="en-US" sz="1100" i="1" dirty="0"/>
              <a:t>Finite Element</a:t>
            </a:r>
          </a:p>
          <a:p>
            <a:pPr algn="ctr"/>
            <a:r>
              <a:rPr lang="en-US" sz="1100" i="1" dirty="0"/>
              <a:t>Analysis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4F97328-7A7F-32A4-BFEB-9D1CCDA846F0}"/>
              </a:ext>
            </a:extLst>
          </p:cNvPr>
          <p:cNvSpPr/>
          <p:nvPr/>
        </p:nvSpPr>
        <p:spPr>
          <a:xfrm>
            <a:off x="805876" y="2416121"/>
            <a:ext cx="1146964" cy="2240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Netgen/NGSolve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779E5DE-E5A2-704F-10C3-56A8A5F30E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138" y="1836580"/>
            <a:ext cx="661926" cy="562013"/>
          </a:xfrm>
          <a:prstGeom prst="rect">
            <a:avLst/>
          </a:prstGeom>
          <a:ln>
            <a:noFill/>
          </a:ln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6EA8124A-134E-1D4F-A2B1-04A76026CE19}"/>
              </a:ext>
            </a:extLst>
          </p:cNvPr>
          <p:cNvSpPr/>
          <p:nvPr/>
        </p:nvSpPr>
        <p:spPr>
          <a:xfrm>
            <a:off x="9319098" y="3893575"/>
            <a:ext cx="1800000" cy="887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Actuators, Control, and Sensors</a:t>
            </a:r>
          </a:p>
          <a:p>
            <a:pPr algn="ctr"/>
            <a:r>
              <a:rPr lang="en-US" sz="1100" i="1" dirty="0"/>
              <a:t>Equation-based</a:t>
            </a:r>
            <a:br>
              <a:rPr lang="en-US" sz="1100" i="1" dirty="0"/>
            </a:br>
            <a:r>
              <a:rPr lang="en-US" sz="1100" i="1" dirty="0"/>
              <a:t>Modelling</a:t>
            </a:r>
          </a:p>
        </p:txBody>
      </p:sp>
    </p:spTree>
    <p:extLst>
      <p:ext uri="{BB962C8B-B14F-4D97-AF65-F5344CB8AC3E}">
        <p14:creationId xmlns:p14="http://schemas.microsoft.com/office/powerpoint/2010/main" val="597118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9ED17-4BF9-FD88-DB7F-D3144F1ED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E48E2F64-4CBC-73BB-37B0-4C847F6C7102}"/>
              </a:ext>
            </a:extLst>
          </p:cNvPr>
          <p:cNvGrpSpPr/>
          <p:nvPr/>
        </p:nvGrpSpPr>
        <p:grpSpPr>
          <a:xfrm>
            <a:off x="3575678" y="702787"/>
            <a:ext cx="5040644" cy="5452425"/>
            <a:chOff x="3000000" y="560220"/>
            <a:chExt cx="6102402" cy="7095922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24E3B070-1130-1492-D0C4-ED6B98998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13" t="15629" r="27315" b="7880"/>
            <a:stretch>
              <a:fillRect/>
            </a:stretch>
          </p:blipFill>
          <p:spPr>
            <a:xfrm>
              <a:off x="3000000" y="560220"/>
              <a:ext cx="5930695" cy="6751530"/>
            </a:xfrm>
            <a:prstGeom prst="rect">
              <a:avLst/>
            </a:prstGeom>
          </p:spPr>
        </p:pic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9C8E5FE5-2F7D-2707-64F5-8F9407CD683B}"/>
                </a:ext>
              </a:extLst>
            </p:cNvPr>
            <p:cNvSpPr/>
            <p:nvPr/>
          </p:nvSpPr>
          <p:spPr>
            <a:xfrm>
              <a:off x="3000000" y="7363688"/>
              <a:ext cx="6102402" cy="292454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DFA4C017-76D1-8E2B-8604-82A8798726FA}"/>
                </a:ext>
              </a:extLst>
            </p:cNvPr>
            <p:cNvCxnSpPr>
              <a:cxnSpLocks/>
            </p:cNvCxnSpPr>
            <p:nvPr/>
          </p:nvCxnSpPr>
          <p:spPr>
            <a:xfrm>
              <a:off x="3000000" y="7311749"/>
              <a:ext cx="6102402" cy="0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8DA8B8C-5F39-F8FA-7711-541AFE71AA8A}"/>
              </a:ext>
            </a:extLst>
          </p:cNvPr>
          <p:cNvGrpSpPr/>
          <p:nvPr/>
        </p:nvGrpSpPr>
        <p:grpSpPr>
          <a:xfrm>
            <a:off x="2784000" y="1072575"/>
            <a:ext cx="1800000" cy="1908000"/>
            <a:chOff x="491815" y="3102172"/>
            <a:chExt cx="1800000" cy="1908000"/>
          </a:xfrm>
        </p:grpSpPr>
        <p:sp>
          <p:nvSpPr>
            <p:cNvPr id="3" name="Rechteck: abgerundete Ecken 2">
              <a:extLst>
                <a:ext uri="{FF2B5EF4-FFF2-40B4-BE49-F238E27FC236}">
                  <a16:creationId xmlns:a16="http://schemas.microsoft.com/office/drawing/2014/main" id="{0EFD4CDB-9930-B03F-8C81-4F3A9DB05E2F}"/>
                </a:ext>
              </a:extLst>
            </p:cNvPr>
            <p:cNvSpPr/>
            <p:nvPr/>
          </p:nvSpPr>
          <p:spPr>
            <a:xfrm>
              <a:off x="491815" y="3102172"/>
              <a:ext cx="1800000" cy="1908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dirty="0"/>
            </a:p>
          </p:txBody>
        </p:sp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C3736DB9-BED6-16A7-DDD4-8DAAD535A29C}"/>
                </a:ext>
              </a:extLst>
            </p:cNvPr>
            <p:cNvSpPr/>
            <p:nvPr/>
          </p:nvSpPr>
          <p:spPr>
            <a:xfrm>
              <a:off x="491815" y="3102172"/>
              <a:ext cx="1800000" cy="88789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b="1" dirty="0"/>
                <a:t>Human Biomechanics</a:t>
              </a:r>
            </a:p>
            <a:p>
              <a:pPr algn="ctr"/>
              <a:r>
                <a:rPr lang="en-US" sz="1400" i="1" dirty="0"/>
                <a:t>Musculoskeletal Modelling</a:t>
              </a:r>
            </a:p>
          </p:txBody>
        </p:sp>
        <p:pic>
          <p:nvPicPr>
            <p:cNvPr id="13" name="Grafik 12">
              <a:extLst>
                <a:ext uri="{FF2B5EF4-FFF2-40B4-BE49-F238E27FC236}">
                  <a16:creationId xmlns:a16="http://schemas.microsoft.com/office/drawing/2014/main" id="{3AC9D73B-CFF4-5F41-87D8-2AD618612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1815" y="4141533"/>
              <a:ext cx="720000" cy="720000"/>
            </a:xfrm>
            <a:prstGeom prst="rect">
              <a:avLst/>
            </a:prstGeom>
          </p:spPr>
        </p:pic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C3317C88-4E66-AD1D-7E45-099E304A91C9}"/>
              </a:ext>
            </a:extLst>
          </p:cNvPr>
          <p:cNvGrpSpPr/>
          <p:nvPr/>
        </p:nvGrpSpPr>
        <p:grpSpPr>
          <a:xfrm>
            <a:off x="5196000" y="3789000"/>
            <a:ext cx="1800000" cy="1908000"/>
            <a:chOff x="486339" y="830943"/>
            <a:chExt cx="1800000" cy="1908000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5718BC71-A781-710C-F39D-846A2D99D0D3}"/>
                </a:ext>
              </a:extLst>
            </p:cNvPr>
            <p:cNvSpPr/>
            <p:nvPr/>
          </p:nvSpPr>
          <p:spPr>
            <a:xfrm>
              <a:off x="486339" y="830943"/>
              <a:ext cx="1800000" cy="1908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dirty="0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F8A34A0-89A3-6F18-2CA2-A4ABABE521F6}"/>
                </a:ext>
              </a:extLst>
            </p:cNvPr>
            <p:cNvSpPr/>
            <p:nvPr/>
          </p:nvSpPr>
          <p:spPr>
            <a:xfrm>
              <a:off x="486339" y="830943"/>
              <a:ext cx="1800000" cy="88789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b="1" dirty="0"/>
                <a:t>Structural Mechanics</a:t>
              </a:r>
            </a:p>
            <a:p>
              <a:pPr algn="ctr"/>
              <a:r>
                <a:rPr lang="en-US" sz="1400" i="1" dirty="0"/>
                <a:t>Finite Element</a:t>
              </a:r>
            </a:p>
            <a:p>
              <a:pPr algn="ctr"/>
              <a:r>
                <a:rPr lang="en-US" sz="1400" i="1" dirty="0"/>
                <a:t>Analysis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2AB75C52-EEFF-E059-C4C5-81C0559ACA66}"/>
                </a:ext>
              </a:extLst>
            </p:cNvPr>
            <p:cNvSpPr/>
            <p:nvPr/>
          </p:nvSpPr>
          <p:spPr>
            <a:xfrm>
              <a:off x="777797" y="2479778"/>
              <a:ext cx="1228463" cy="2240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Netgen/NGSolve</a:t>
              </a:r>
            </a:p>
          </p:txBody>
        </p:sp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E76E33FE-6DE8-42DD-9A13-64568520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3138" y="1924930"/>
              <a:ext cx="661926" cy="562013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98DA7E28-A70D-1598-0593-6F28B761EF91}"/>
              </a:ext>
            </a:extLst>
          </p:cNvPr>
          <p:cNvGrpSpPr/>
          <p:nvPr/>
        </p:nvGrpSpPr>
        <p:grpSpPr>
          <a:xfrm>
            <a:off x="7606680" y="1072575"/>
            <a:ext cx="1801320" cy="1908000"/>
            <a:chOff x="6146867" y="1267762"/>
            <a:chExt cx="1801320" cy="1908000"/>
          </a:xfrm>
        </p:grpSpPr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1BC39A89-30A4-43C6-B0EF-48903FC15BD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52445" y="2421000"/>
              <a:ext cx="552588" cy="144000"/>
            </a:xfrm>
            <a:prstGeom prst="straightConnector1">
              <a:avLst/>
            </a:prstGeom>
            <a:ln cap="rnd">
              <a:solidFill>
                <a:schemeClr val="tx1"/>
              </a:solidFill>
              <a:round/>
              <a:headEnd type="none" w="med" len="med"/>
              <a:tailEnd type="oval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2EE593DD-A60D-3B9B-24C0-2493F1706B05}"/>
                </a:ext>
              </a:extLst>
            </p:cNvPr>
            <p:cNvGrpSpPr/>
            <p:nvPr/>
          </p:nvGrpSpPr>
          <p:grpSpPr>
            <a:xfrm>
              <a:off x="6146867" y="1267762"/>
              <a:ext cx="1801320" cy="1908000"/>
              <a:chOff x="9297170" y="3893575"/>
              <a:chExt cx="1801320" cy="1908000"/>
            </a:xfrm>
          </p:grpSpPr>
          <p:sp>
            <p:nvSpPr>
              <p:cNvPr id="12" name="Rechteck: abgerundete Ecken 11">
                <a:extLst>
                  <a:ext uri="{FF2B5EF4-FFF2-40B4-BE49-F238E27FC236}">
                    <a16:creationId xmlns:a16="http://schemas.microsoft.com/office/drawing/2014/main" id="{3DAD4C79-A4C6-BD1C-991B-2F2E9A0575C1}"/>
                  </a:ext>
                </a:extLst>
              </p:cNvPr>
              <p:cNvSpPr/>
              <p:nvPr/>
            </p:nvSpPr>
            <p:spPr>
              <a:xfrm>
                <a:off x="9298490" y="3893575"/>
                <a:ext cx="1800000" cy="1908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hteck 14">
                <a:extLst>
                  <a:ext uri="{FF2B5EF4-FFF2-40B4-BE49-F238E27FC236}">
                    <a16:creationId xmlns:a16="http://schemas.microsoft.com/office/drawing/2014/main" id="{FFAC0D30-C7A1-98D3-A615-CB9E791B9CE4}"/>
                  </a:ext>
                </a:extLst>
              </p:cNvPr>
              <p:cNvSpPr/>
              <p:nvPr/>
            </p:nvSpPr>
            <p:spPr>
              <a:xfrm>
                <a:off x="9297170" y="3893575"/>
                <a:ext cx="1800000" cy="88789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en-US" b="1" dirty="0"/>
                  <a:t>Actuators, Control, and Sensors</a:t>
                </a:r>
              </a:p>
              <a:p>
                <a:pPr algn="ctr"/>
                <a:r>
                  <a:rPr lang="en-US" sz="1400" i="1" dirty="0"/>
                  <a:t>Equation-based</a:t>
                </a:r>
                <a:br>
                  <a:rPr lang="en-US" sz="1400" i="1" dirty="0"/>
                </a:br>
                <a:r>
                  <a:rPr lang="en-US" sz="1400" i="1" dirty="0"/>
                  <a:t>Modelling</a:t>
                </a:r>
              </a:p>
            </p:txBody>
          </p:sp>
          <p:pic>
            <p:nvPicPr>
              <p:cNvPr id="36" name="Grafik 35">
                <a:extLst>
                  <a:ext uri="{FF2B5EF4-FFF2-40B4-BE49-F238E27FC236}">
                    <a16:creationId xmlns:a16="http://schemas.microsoft.com/office/drawing/2014/main" id="{3FD2FAC3-CCDA-B0ED-F0C0-E7CDB7832B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593685" y="5189583"/>
                <a:ext cx="1206970" cy="576000"/>
              </a:xfrm>
              <a:prstGeom prst="rect">
                <a:avLst/>
              </a:prstGeom>
            </p:spPr>
          </p:pic>
        </p:grpSp>
      </p:grp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5E1146F7-A6B4-057A-3651-1B76DDBFADD0}"/>
              </a:ext>
            </a:extLst>
          </p:cNvPr>
          <p:cNvCxnSpPr>
            <a:cxnSpLocks/>
            <a:stCxn id="3" idx="0"/>
            <a:endCxn id="15" idx="0"/>
          </p:cNvCxnSpPr>
          <p:nvPr/>
        </p:nvCxnSpPr>
        <p:spPr>
          <a:xfrm rot="5400000" flipH="1" flipV="1">
            <a:off x="6095340" y="-1338765"/>
            <a:ext cx="12700" cy="4822680"/>
          </a:xfrm>
          <a:prstGeom prst="bentConnector3">
            <a:avLst>
              <a:gd name="adj1" fmla="val 3545449"/>
            </a:avLst>
          </a:prstGeom>
          <a:ln w="38100" cap="rnd" cmpd="sng">
            <a:solidFill>
              <a:schemeClr val="accent6"/>
            </a:solidFill>
            <a:prstDash val="solid"/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9A7E935E-016B-EE11-F591-FE6A06118EF4}"/>
              </a:ext>
            </a:extLst>
          </p:cNvPr>
          <p:cNvCxnSpPr>
            <a:cxnSpLocks/>
            <a:stCxn id="4" idx="3"/>
            <a:endCxn id="12" idx="2"/>
          </p:cNvCxnSpPr>
          <p:nvPr/>
        </p:nvCxnSpPr>
        <p:spPr>
          <a:xfrm flipV="1">
            <a:off x="6996000" y="2980575"/>
            <a:ext cx="1512000" cy="1762425"/>
          </a:xfrm>
          <a:prstGeom prst="bentConnector2">
            <a:avLst/>
          </a:prstGeom>
          <a:ln w="38100" cap="rnd" cmpd="sng">
            <a:solidFill>
              <a:schemeClr val="accent6"/>
            </a:solidFill>
            <a:prstDash val="solid"/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633D6033-A38B-BAAC-5308-2274FD54325E}"/>
              </a:ext>
            </a:extLst>
          </p:cNvPr>
          <p:cNvCxnSpPr>
            <a:cxnSpLocks/>
            <a:stCxn id="3" idx="2"/>
            <a:endCxn id="4" idx="1"/>
          </p:cNvCxnSpPr>
          <p:nvPr/>
        </p:nvCxnSpPr>
        <p:spPr>
          <a:xfrm rot="16200000" flipH="1">
            <a:off x="3558788" y="3105787"/>
            <a:ext cx="1762425" cy="1512000"/>
          </a:xfrm>
          <a:prstGeom prst="bentConnector2">
            <a:avLst/>
          </a:prstGeom>
          <a:ln w="38100" cap="rnd" cmpd="sng">
            <a:solidFill>
              <a:schemeClr val="accent6"/>
            </a:solidFill>
            <a:prstDash val="solid"/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EDA85594-A963-4C7F-8A90-2EDC743A3C50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4584000" y="2026575"/>
            <a:ext cx="1440000" cy="332772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none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73676CF5-B0EA-17EB-664F-16CE9953E3D6}"/>
              </a:ext>
            </a:extLst>
          </p:cNvPr>
          <p:cNvCxnSpPr>
            <a:cxnSpLocks/>
          </p:cNvCxnSpPr>
          <p:nvPr/>
        </p:nvCxnSpPr>
        <p:spPr>
          <a:xfrm flipV="1">
            <a:off x="6096000" y="3069000"/>
            <a:ext cx="504000" cy="720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none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6DC4479B-060E-B0A8-C04A-A4D5A8A0BC8A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6888000" y="2026575"/>
            <a:ext cx="720000" cy="343238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none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0374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83439-7806-E770-75E5-F7BA2A772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hteck 40">
            <a:extLst>
              <a:ext uri="{FF2B5EF4-FFF2-40B4-BE49-F238E27FC236}">
                <a16:creationId xmlns:a16="http://schemas.microsoft.com/office/drawing/2014/main" id="{3DD77001-64DB-66D8-617A-709F9F120873}"/>
              </a:ext>
            </a:extLst>
          </p:cNvPr>
          <p:cNvSpPr/>
          <p:nvPr/>
        </p:nvSpPr>
        <p:spPr>
          <a:xfrm>
            <a:off x="1596000" y="693000"/>
            <a:ext cx="9000000" cy="294264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800" b="1" dirty="0"/>
              <a:t>Subsystem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C3770DE4-819A-8A22-39D5-1B0E20B5D4F8}"/>
                  </a:ext>
                </a:extLst>
              </p:cNvPr>
              <p:cNvSpPr/>
              <p:nvPr/>
            </p:nvSpPr>
            <p:spPr>
              <a:xfrm>
                <a:off x="8256000" y="837000"/>
                <a:ext cx="2160000" cy="2592000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Model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</m:oMath>
                </a14:m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High Fidelity</a:t>
                </a:r>
              </a:p>
              <a:p>
                <a:pPr algn="ctr"/>
                <a:r>
                  <a:rPr lang="en-US" dirty="0"/>
                  <a:t>High Cost</a:t>
                </a:r>
              </a:p>
              <a:p>
                <a:pPr algn="ctr"/>
                <a:r>
                  <a:rPr lang="en-US" dirty="0"/>
                  <a:t>Local Behavior</a:t>
                </a:r>
              </a:p>
            </p:txBody>
          </p:sp>
        </mc:Choice>
        <mc:Fallback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C3770DE4-819A-8A22-39D5-1B0E20B5D4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6000" y="837000"/>
                <a:ext cx="2160000" cy="259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40220B77-E201-52C3-04C9-F7BA172AF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92999"/>
          </a:xfrm>
        </p:spPr>
        <p:txBody>
          <a:bodyPr>
            <a:noAutofit/>
          </a:bodyPr>
          <a:lstStyle/>
          <a:p>
            <a:r>
              <a:rPr lang="en-US" sz="2800" dirty="0"/>
              <a:t>Multi-Fidelity and Runtime Switching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hteck 2">
                <a:extLst>
                  <a:ext uri="{FF2B5EF4-FFF2-40B4-BE49-F238E27FC236}">
                    <a16:creationId xmlns:a16="http://schemas.microsoft.com/office/drawing/2014/main" id="{E3CA8C09-9B58-BE70-089A-711BAD66BBD1}"/>
                  </a:ext>
                </a:extLst>
              </p:cNvPr>
              <p:cNvSpPr/>
              <p:nvPr/>
            </p:nvSpPr>
            <p:spPr>
              <a:xfrm>
                <a:off x="1776000" y="837000"/>
                <a:ext cx="2160000" cy="2592000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Model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Low Fidelity</a:t>
                </a:r>
              </a:p>
              <a:p>
                <a:pPr algn="ctr"/>
                <a:r>
                  <a:rPr lang="en-US" dirty="0"/>
                  <a:t>Low Cost</a:t>
                </a:r>
              </a:p>
              <a:p>
                <a:pPr algn="ctr"/>
                <a:r>
                  <a:rPr lang="en-US" dirty="0"/>
                  <a:t>Global Behavior</a:t>
                </a:r>
              </a:p>
            </p:txBody>
          </p:sp>
        </mc:Choice>
        <mc:Fallback>
          <p:sp>
            <p:nvSpPr>
              <p:cNvPr id="3" name="Rechteck 2">
                <a:extLst>
                  <a:ext uri="{FF2B5EF4-FFF2-40B4-BE49-F238E27FC236}">
                    <a16:creationId xmlns:a16="http://schemas.microsoft.com/office/drawing/2014/main" id="{E3CA8C09-9B58-BE70-089A-711BAD66BB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6000" y="837000"/>
                <a:ext cx="2160000" cy="2592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 descr="Zahnrad mit einfarbiger Füllung">
            <a:extLst>
              <a:ext uri="{FF2B5EF4-FFF2-40B4-BE49-F238E27FC236}">
                <a16:creationId xmlns:a16="http://schemas.microsoft.com/office/drawing/2014/main" id="{3203F978-4CAC-18A9-B056-7C2DA7D241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86000" y="1574928"/>
            <a:ext cx="540000" cy="540000"/>
          </a:xfrm>
          <a:prstGeom prst="rect">
            <a:avLst/>
          </a:prstGeom>
        </p:spPr>
      </p:pic>
      <p:pic>
        <p:nvPicPr>
          <p:cNvPr id="9" name="Grafik 8" descr="Zahnrad mit einfarbiger Füllung">
            <a:extLst>
              <a:ext uri="{FF2B5EF4-FFF2-40B4-BE49-F238E27FC236}">
                <a16:creationId xmlns:a16="http://schemas.microsoft.com/office/drawing/2014/main" id="{986A1030-3396-48FF-E062-65075E3C2B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3969783">
            <a:off x="9278086" y="1571086"/>
            <a:ext cx="540000" cy="540000"/>
          </a:xfrm>
          <a:prstGeom prst="rect">
            <a:avLst/>
          </a:prstGeom>
        </p:spPr>
      </p:pic>
      <p:pic>
        <p:nvPicPr>
          <p:cNvPr id="10" name="Grafik 9" descr="Zahnrad mit einfarbiger Füllung">
            <a:extLst>
              <a:ext uri="{FF2B5EF4-FFF2-40B4-BE49-F238E27FC236}">
                <a16:creationId xmlns:a16="http://schemas.microsoft.com/office/drawing/2014/main" id="{DF4F9A6F-12F9-7BFC-D559-F52F09C80B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72078" y="1571086"/>
            <a:ext cx="540000" cy="540000"/>
          </a:xfrm>
          <a:prstGeom prst="rect">
            <a:avLst/>
          </a:prstGeom>
        </p:spPr>
      </p:pic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B759D1AE-82B1-F9AD-F711-E913EBDD90D3}"/>
              </a:ext>
            </a:extLst>
          </p:cNvPr>
          <p:cNvCxnSpPr>
            <a:cxnSpLocks/>
          </p:cNvCxnSpPr>
          <p:nvPr/>
        </p:nvCxnSpPr>
        <p:spPr>
          <a:xfrm flipV="1">
            <a:off x="1776000" y="5435760"/>
            <a:ext cx="9000000" cy="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D539A008-CF89-1C99-A3AE-29151A53E519}"/>
                  </a:ext>
                </a:extLst>
              </p:cNvPr>
              <p:cNvSpPr/>
              <p:nvPr/>
            </p:nvSpPr>
            <p:spPr>
              <a:xfrm>
                <a:off x="1776000" y="4687189"/>
                <a:ext cx="2880000" cy="719993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active</a:t>
                </a:r>
              </a:p>
            </p:txBody>
          </p:sp>
        </mc:Choice>
        <mc:Fallback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D539A008-CF89-1C99-A3AE-29151A53E5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6000" y="4687189"/>
                <a:ext cx="2880000" cy="71999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B3D9172-0C84-E227-8BA7-C8B9033467FC}"/>
                  </a:ext>
                </a:extLst>
              </p:cNvPr>
              <p:cNvSpPr/>
              <p:nvPr/>
            </p:nvSpPr>
            <p:spPr>
              <a:xfrm>
                <a:off x="4656000" y="4687189"/>
                <a:ext cx="2886312" cy="719993"/>
              </a:xfrm>
              <a:prstGeom prst="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</m:oMath>
                </a14:m>
                <a:r>
                  <a:rPr lang="en-US" dirty="0"/>
                  <a:t> active</a:t>
                </a:r>
              </a:p>
            </p:txBody>
          </p:sp>
        </mc:Choice>
        <mc:Fallback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B3D9172-0C84-E227-8BA7-C8B9033467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6000" y="4687189"/>
                <a:ext cx="2886312" cy="7199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1F4B9B2F-F633-D3E0-3CC2-B07481E18A84}"/>
                  </a:ext>
                </a:extLst>
              </p:cNvPr>
              <p:cNvSpPr/>
              <p:nvPr/>
            </p:nvSpPr>
            <p:spPr>
              <a:xfrm>
                <a:off x="7542312" y="4687189"/>
                <a:ext cx="2886312" cy="719993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active</a:t>
                </a:r>
              </a:p>
            </p:txBody>
          </p:sp>
        </mc:Choice>
        <mc:Fallback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1F4B9B2F-F633-D3E0-3CC2-B07481E18A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12" y="4687189"/>
                <a:ext cx="2886312" cy="71999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D9EDB00B-32F1-375E-9744-B27D5F45416B}"/>
                  </a:ext>
                </a:extLst>
              </p:cNvPr>
              <p:cNvSpPr txBox="1"/>
              <p:nvPr/>
            </p:nvSpPr>
            <p:spPr>
              <a:xfrm>
                <a:off x="10596000" y="5407182"/>
                <a:ext cx="360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D9EDB00B-32F1-375E-9744-B27D5F454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6000" y="5407182"/>
                <a:ext cx="3600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325279AB-B277-1421-1DE9-A094CAD779EA}"/>
              </a:ext>
            </a:extLst>
          </p:cNvPr>
          <p:cNvCxnSpPr>
            <a:cxnSpLocks/>
          </p:cNvCxnSpPr>
          <p:nvPr/>
        </p:nvCxnSpPr>
        <p:spPr>
          <a:xfrm>
            <a:off x="4656000" y="4436904"/>
            <a:ext cx="0" cy="1186285"/>
          </a:xfrm>
          <a:prstGeom prst="line">
            <a:avLst/>
          </a:prstGeom>
          <a:ln w="28575">
            <a:solidFill>
              <a:srgbClr val="00B0F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9F4883A-FA34-C56F-5B40-13AC5DD02F0B}"/>
              </a:ext>
            </a:extLst>
          </p:cNvPr>
          <p:cNvCxnSpPr>
            <a:cxnSpLocks/>
          </p:cNvCxnSpPr>
          <p:nvPr/>
        </p:nvCxnSpPr>
        <p:spPr>
          <a:xfrm>
            <a:off x="7561285" y="4436903"/>
            <a:ext cx="831" cy="1186285"/>
          </a:xfrm>
          <a:prstGeom prst="line">
            <a:avLst/>
          </a:prstGeom>
          <a:ln w="28575">
            <a:solidFill>
              <a:srgbClr val="00B0F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E15C23E2-DA25-E17C-FFA8-C0740AD58203}"/>
              </a:ext>
            </a:extLst>
          </p:cNvPr>
          <p:cNvCxnSpPr/>
          <p:nvPr/>
        </p:nvCxnSpPr>
        <p:spPr>
          <a:xfrm>
            <a:off x="4680676" y="5589184"/>
            <a:ext cx="2885481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AA88F49E-68FF-8BCB-6E19-E0F6E0C85C3D}"/>
              </a:ext>
            </a:extLst>
          </p:cNvPr>
          <p:cNvSpPr/>
          <p:nvPr/>
        </p:nvSpPr>
        <p:spPr>
          <a:xfrm>
            <a:off x="4797259" y="5651669"/>
            <a:ext cx="2597481" cy="369331"/>
          </a:xfrm>
          <a:prstGeom prst="rect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High-fidelity interest region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97B8B713-2DFD-C366-5D18-DA7D41BABEA8}"/>
              </a:ext>
            </a:extLst>
          </p:cNvPr>
          <p:cNvSpPr/>
          <p:nvPr/>
        </p:nvSpPr>
        <p:spPr>
          <a:xfrm>
            <a:off x="1776000" y="6264295"/>
            <a:ext cx="3456000" cy="369331"/>
          </a:xfrm>
          <a:prstGeom prst="rect">
            <a:avLst/>
          </a:prstGeom>
          <a:ln w="28575">
            <a:solidFill>
              <a:srgbClr val="00B0F0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200" b="1" i="1" dirty="0"/>
              <a:t>At switch: </a:t>
            </a:r>
            <a:r>
              <a:rPr lang="en-US" sz="1200" i="1" dirty="0"/>
              <a:t>State is transferred between models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42063D6-BCC8-31EA-C01F-5F85218D90DE}"/>
              </a:ext>
            </a:extLst>
          </p:cNvPr>
          <p:cNvCxnSpPr/>
          <p:nvPr/>
        </p:nvCxnSpPr>
        <p:spPr>
          <a:xfrm>
            <a:off x="3936000" y="1989000"/>
            <a:ext cx="4320000" cy="0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62E73E37-5A95-6EE7-73BE-06E05B23CA9D}"/>
              </a:ext>
            </a:extLst>
          </p:cNvPr>
          <p:cNvCxnSpPr/>
          <p:nvPr/>
        </p:nvCxnSpPr>
        <p:spPr>
          <a:xfrm>
            <a:off x="3936000" y="2709000"/>
            <a:ext cx="4320000" cy="0"/>
          </a:xfrm>
          <a:prstGeom prst="straightConnector1">
            <a:avLst/>
          </a:prstGeom>
          <a:ln w="38100">
            <a:solidFill>
              <a:srgbClr val="00B0F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hteck 44">
            <a:extLst>
              <a:ext uri="{FF2B5EF4-FFF2-40B4-BE49-F238E27FC236}">
                <a16:creationId xmlns:a16="http://schemas.microsoft.com/office/drawing/2014/main" id="{1C7E7326-8878-C223-060E-4EBD30E060F6}"/>
              </a:ext>
            </a:extLst>
          </p:cNvPr>
          <p:cNvSpPr/>
          <p:nvPr/>
        </p:nvSpPr>
        <p:spPr>
          <a:xfrm>
            <a:off x="5236850" y="2152247"/>
            <a:ext cx="1718297" cy="36933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>
                <a:solidFill>
                  <a:schemeClr val="bg1"/>
                </a:solidFill>
              </a:rPr>
              <a:t>State transfer</a:t>
            </a:r>
          </a:p>
        </p:txBody>
      </p: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0C25B9C0-2AE4-C5D4-2904-AC89446405B1}"/>
              </a:ext>
            </a:extLst>
          </p:cNvPr>
          <p:cNvCxnSpPr>
            <a:cxnSpLocks/>
          </p:cNvCxnSpPr>
          <p:nvPr/>
        </p:nvCxnSpPr>
        <p:spPr>
          <a:xfrm>
            <a:off x="336000" y="3861000"/>
            <a:ext cx="10755416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hteck 62">
            <a:extLst>
              <a:ext uri="{FF2B5EF4-FFF2-40B4-BE49-F238E27FC236}">
                <a16:creationId xmlns:a16="http://schemas.microsoft.com/office/drawing/2014/main" id="{FC9371F2-DD58-D633-582A-F96BC64EBBF4}"/>
              </a:ext>
            </a:extLst>
          </p:cNvPr>
          <p:cNvSpPr/>
          <p:nvPr/>
        </p:nvSpPr>
        <p:spPr>
          <a:xfrm>
            <a:off x="213589" y="1596595"/>
            <a:ext cx="1246474" cy="539999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Definition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5977087C-41B0-5E82-F7E4-32B3025E5E8E}"/>
              </a:ext>
            </a:extLst>
          </p:cNvPr>
          <p:cNvSpPr/>
          <p:nvPr/>
        </p:nvSpPr>
        <p:spPr>
          <a:xfrm>
            <a:off x="213589" y="4777185"/>
            <a:ext cx="1246474" cy="539999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Execution</a:t>
            </a:r>
          </a:p>
        </p:txBody>
      </p:sp>
    </p:spTree>
    <p:extLst>
      <p:ext uri="{BB962C8B-B14F-4D97-AF65-F5344CB8AC3E}">
        <p14:creationId xmlns:p14="http://schemas.microsoft.com/office/powerpoint/2010/main" val="196543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F3F99-C880-ED2A-F30B-0ED70D9D6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34B22FC3-4BF2-D562-3B9C-3F715D265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5400000" cy="692999"/>
          </a:xfrm>
        </p:spPr>
        <p:txBody>
          <a:bodyPr>
            <a:noAutofit/>
          </a:bodyPr>
          <a:lstStyle/>
          <a:p>
            <a:r>
              <a:rPr lang="en-US" sz="2800" dirty="0"/>
              <a:t>Framework Requirements</a:t>
            </a: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A6288E01-A8BE-E39C-381B-7103D41B9A6D}"/>
              </a:ext>
            </a:extLst>
          </p:cNvPr>
          <p:cNvSpPr>
            <a:spLocks/>
          </p:cNvSpPr>
          <p:nvPr/>
        </p:nvSpPr>
        <p:spPr>
          <a:xfrm>
            <a:off x="984000" y="545976"/>
            <a:ext cx="4824000" cy="36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General Modeling</a:t>
            </a:r>
          </a:p>
        </p:txBody>
      </p: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BC3C7B69-1958-8138-3091-C6252F1B177A}"/>
              </a:ext>
            </a:extLst>
          </p:cNvPr>
          <p:cNvSpPr/>
          <p:nvPr/>
        </p:nvSpPr>
        <p:spPr>
          <a:xfrm>
            <a:off x="984000" y="2201976"/>
            <a:ext cx="1152000" cy="63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UR-01</a:t>
            </a:r>
          </a:p>
          <a:p>
            <a:pPr algn="ctr"/>
            <a:r>
              <a:rPr lang="en-US" sz="1200" b="1" dirty="0"/>
              <a:t>Components and Ports</a:t>
            </a:r>
          </a:p>
        </p:txBody>
      </p:sp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C0078946-64C0-8BB0-4D0C-4FFB6BC7E004}"/>
              </a:ext>
            </a:extLst>
          </p:cNvPr>
          <p:cNvSpPr/>
          <p:nvPr/>
        </p:nvSpPr>
        <p:spPr>
          <a:xfrm>
            <a:off x="3432000" y="2201976"/>
            <a:ext cx="1152000" cy="63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UR-03</a:t>
            </a:r>
          </a:p>
          <a:p>
            <a:pPr algn="ctr"/>
            <a:r>
              <a:rPr lang="en-US" sz="1200" b="1" dirty="0"/>
              <a:t>System</a:t>
            </a:r>
          </a:p>
          <a:p>
            <a:pPr algn="ctr"/>
            <a:r>
              <a:rPr lang="en-US" sz="1200" b="1" dirty="0"/>
              <a:t>Assembly</a:t>
            </a:r>
          </a:p>
        </p:txBody>
      </p:sp>
      <p:sp>
        <p:nvSpPr>
          <p:cNvPr id="46" name="Rechteck: abgerundete Ecken 45">
            <a:extLst>
              <a:ext uri="{FF2B5EF4-FFF2-40B4-BE49-F238E27FC236}">
                <a16:creationId xmlns:a16="http://schemas.microsoft.com/office/drawing/2014/main" id="{42378BC9-010A-04DA-25B0-11F0BC3FE7B5}"/>
              </a:ext>
            </a:extLst>
          </p:cNvPr>
          <p:cNvSpPr/>
          <p:nvPr/>
        </p:nvSpPr>
        <p:spPr>
          <a:xfrm>
            <a:off x="2208000" y="2201976"/>
            <a:ext cx="1152000" cy="63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UR-02</a:t>
            </a:r>
          </a:p>
          <a:p>
            <a:pPr algn="ctr"/>
            <a:r>
              <a:rPr lang="en-US" sz="1200" b="1" dirty="0"/>
              <a:t>Physical</a:t>
            </a:r>
            <a:br>
              <a:rPr lang="en-US" sz="1200" b="1" dirty="0"/>
            </a:br>
            <a:r>
              <a:rPr lang="en-US" sz="1200" b="1" dirty="0"/>
              <a:t>Units</a:t>
            </a:r>
          </a:p>
        </p:txBody>
      </p:sp>
      <p:sp>
        <p:nvSpPr>
          <p:cNvPr id="47" name="Rechteck: abgerundete Ecken 46">
            <a:extLst>
              <a:ext uri="{FF2B5EF4-FFF2-40B4-BE49-F238E27FC236}">
                <a16:creationId xmlns:a16="http://schemas.microsoft.com/office/drawing/2014/main" id="{F4C9DC66-E061-913A-5143-39F5CA628C05}"/>
              </a:ext>
            </a:extLst>
          </p:cNvPr>
          <p:cNvSpPr/>
          <p:nvPr/>
        </p:nvSpPr>
        <p:spPr>
          <a:xfrm>
            <a:off x="4656000" y="2201976"/>
            <a:ext cx="1152000" cy="63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UR-04</a:t>
            </a:r>
          </a:p>
          <a:p>
            <a:pPr algn="ctr"/>
            <a:r>
              <a:rPr lang="en-US" sz="1200" b="1" dirty="0"/>
              <a:t>Hybrid</a:t>
            </a:r>
            <a:br>
              <a:rPr lang="en-US" sz="1200" b="1" dirty="0"/>
            </a:br>
            <a:r>
              <a:rPr lang="en-US" sz="1200" b="1" dirty="0"/>
              <a:t>Behavior</a:t>
            </a:r>
          </a:p>
        </p:txBody>
      </p: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60E9CACF-45A7-3C9D-6300-4AEAC062BF01}"/>
              </a:ext>
            </a:extLst>
          </p:cNvPr>
          <p:cNvGrpSpPr/>
          <p:nvPr/>
        </p:nvGrpSpPr>
        <p:grpSpPr>
          <a:xfrm>
            <a:off x="2102765" y="1283976"/>
            <a:ext cx="2586471" cy="468000"/>
            <a:chOff x="1997529" y="1593000"/>
            <a:chExt cx="2586471" cy="468000"/>
          </a:xfrm>
        </p:grpSpPr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A93436A8-0A93-5106-2166-D8386193591C}"/>
                </a:ext>
              </a:extLst>
            </p:cNvPr>
            <p:cNvGrpSpPr/>
            <p:nvPr/>
          </p:nvGrpSpPr>
          <p:grpSpPr>
            <a:xfrm>
              <a:off x="1997529" y="1593000"/>
              <a:ext cx="936000" cy="457261"/>
              <a:chOff x="2928000" y="1413000"/>
              <a:chExt cx="936000" cy="457261"/>
            </a:xfrm>
          </p:grpSpPr>
          <p:sp>
            <p:nvSpPr>
              <p:cNvPr id="35" name="Rechteck 34">
                <a:extLst>
                  <a:ext uri="{FF2B5EF4-FFF2-40B4-BE49-F238E27FC236}">
                    <a16:creationId xmlns:a16="http://schemas.microsoft.com/office/drawing/2014/main" id="{BD9493C4-17D2-ABC0-CA8A-51B42467419A}"/>
                  </a:ext>
                </a:extLst>
              </p:cNvPr>
              <p:cNvSpPr/>
              <p:nvPr/>
            </p:nvSpPr>
            <p:spPr>
              <a:xfrm>
                <a:off x="2928000" y="1413000"/>
                <a:ext cx="936000" cy="45594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100" b="1" i="1" dirty="0"/>
                  <a:t>A</a:t>
                </a:r>
              </a:p>
            </p:txBody>
          </p:sp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7AB88D7D-AA36-6DC0-A07D-22CC7B29F89A}"/>
                  </a:ext>
                </a:extLst>
              </p:cNvPr>
              <p:cNvSpPr/>
              <p:nvPr/>
            </p:nvSpPr>
            <p:spPr>
              <a:xfrm>
                <a:off x="3648000" y="1529429"/>
                <a:ext cx="216000" cy="216000"/>
              </a:xfrm>
              <a:prstGeom prst="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49" name="Grafik 48" descr="Zahnrad mit einfarbiger Füllung">
                <a:extLst>
                  <a:ext uri="{FF2B5EF4-FFF2-40B4-BE49-F238E27FC236}">
                    <a16:creationId xmlns:a16="http://schemas.microsoft.com/office/drawing/2014/main" id="{F7B457AD-F112-2258-1C73-ED63279ADB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255688" y="1593000"/>
                <a:ext cx="277261" cy="277261"/>
              </a:xfrm>
              <a:prstGeom prst="rect">
                <a:avLst/>
              </a:prstGeom>
            </p:spPr>
          </p:pic>
        </p:grpSp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64BD636D-F822-2AD6-D3F8-600ABD2DAE26}"/>
                </a:ext>
              </a:extLst>
            </p:cNvPr>
            <p:cNvGrpSpPr/>
            <p:nvPr/>
          </p:nvGrpSpPr>
          <p:grpSpPr>
            <a:xfrm>
              <a:off x="3648000" y="1593000"/>
              <a:ext cx="936000" cy="468000"/>
              <a:chOff x="2928000" y="1413000"/>
              <a:chExt cx="936000" cy="468000"/>
            </a:xfrm>
          </p:grpSpPr>
          <p:sp>
            <p:nvSpPr>
              <p:cNvPr id="58" name="Rechteck 57">
                <a:extLst>
                  <a:ext uri="{FF2B5EF4-FFF2-40B4-BE49-F238E27FC236}">
                    <a16:creationId xmlns:a16="http://schemas.microsoft.com/office/drawing/2014/main" id="{70D0AB58-1588-D06F-2B28-6D1A87A1244C}"/>
                  </a:ext>
                </a:extLst>
              </p:cNvPr>
              <p:cNvSpPr/>
              <p:nvPr/>
            </p:nvSpPr>
            <p:spPr>
              <a:xfrm>
                <a:off x="2928000" y="1413000"/>
                <a:ext cx="936000" cy="46800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100" b="1" i="1" dirty="0"/>
                  <a:t>B</a:t>
                </a:r>
              </a:p>
            </p:txBody>
          </p:sp>
          <p:sp>
            <p:nvSpPr>
              <p:cNvPr id="59" name="Rechteck 58">
                <a:extLst>
                  <a:ext uri="{FF2B5EF4-FFF2-40B4-BE49-F238E27FC236}">
                    <a16:creationId xmlns:a16="http://schemas.microsoft.com/office/drawing/2014/main" id="{AEED7175-8B60-A685-C02F-DFC8F9324700}"/>
                  </a:ext>
                </a:extLst>
              </p:cNvPr>
              <p:cNvSpPr/>
              <p:nvPr/>
            </p:nvSpPr>
            <p:spPr>
              <a:xfrm>
                <a:off x="2935596" y="1529429"/>
                <a:ext cx="216000" cy="216000"/>
              </a:xfrm>
              <a:prstGeom prst="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61" name="Grafik 60" descr="Zahnrad mit einfarbiger Füllung">
                <a:extLst>
                  <a:ext uri="{FF2B5EF4-FFF2-40B4-BE49-F238E27FC236}">
                    <a16:creationId xmlns:a16="http://schemas.microsoft.com/office/drawing/2014/main" id="{6E7F0FF3-9D33-35AD-1128-03620AE11B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255688" y="1593000"/>
                <a:ext cx="277261" cy="277261"/>
              </a:xfrm>
              <a:prstGeom prst="rect">
                <a:avLst/>
              </a:prstGeom>
            </p:spPr>
          </p:pic>
        </p:grpSp>
        <p:cxnSp>
          <p:nvCxnSpPr>
            <p:cNvPr id="63" name="Gerade Verbindung mit Pfeil 62">
              <a:extLst>
                <a:ext uri="{FF2B5EF4-FFF2-40B4-BE49-F238E27FC236}">
                  <a16:creationId xmlns:a16="http://schemas.microsoft.com/office/drawing/2014/main" id="{BBE20EA5-B5EA-CCEE-0750-14A6BF59EA37}"/>
                </a:ext>
              </a:extLst>
            </p:cNvPr>
            <p:cNvCxnSpPr>
              <a:cxnSpLocks/>
              <a:stCxn id="39" idx="3"/>
              <a:endCxn id="59" idx="1"/>
            </p:cNvCxnSpPr>
            <p:nvPr/>
          </p:nvCxnSpPr>
          <p:spPr>
            <a:xfrm>
              <a:off x="2933529" y="1817429"/>
              <a:ext cx="72206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9" name="Grafik 78">
            <a:extLst>
              <a:ext uri="{FF2B5EF4-FFF2-40B4-BE49-F238E27FC236}">
                <a16:creationId xmlns:a16="http://schemas.microsoft.com/office/drawing/2014/main" id="{092F38E9-CB68-D44B-F8B3-0C55ADEBE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6790" y="977976"/>
            <a:ext cx="360000" cy="360000"/>
          </a:xfrm>
          <a:prstGeom prst="rect">
            <a:avLst/>
          </a:prstGeom>
        </p:spPr>
      </p:pic>
      <p:pic>
        <p:nvPicPr>
          <p:cNvPr id="81" name="Grafik 80">
            <a:extLst>
              <a:ext uri="{FF2B5EF4-FFF2-40B4-BE49-F238E27FC236}">
                <a16:creationId xmlns:a16="http://schemas.microsoft.com/office/drawing/2014/main" id="{8E0970F0-1642-188F-3480-0CBE1CDE06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2791" y="1646280"/>
            <a:ext cx="423999" cy="360000"/>
          </a:xfrm>
          <a:prstGeom prst="rect">
            <a:avLst/>
          </a:prstGeom>
          <a:ln>
            <a:noFill/>
          </a:ln>
        </p:spPr>
      </p:pic>
      <p:pic>
        <p:nvPicPr>
          <p:cNvPr id="84" name="Grafik 83">
            <a:extLst>
              <a:ext uri="{FF2B5EF4-FFF2-40B4-BE49-F238E27FC236}">
                <a16:creationId xmlns:a16="http://schemas.microsoft.com/office/drawing/2014/main" id="{70415054-8A42-3B08-028C-C96DDC6A7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4422" y="1612056"/>
            <a:ext cx="750315" cy="360000"/>
          </a:xfrm>
          <a:prstGeom prst="rect">
            <a:avLst/>
          </a:prstGeom>
        </p:spPr>
      </p:pic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C6A24349-2102-086E-BE5B-44CAA2F13504}"/>
              </a:ext>
            </a:extLst>
          </p:cNvPr>
          <p:cNvCxnSpPr>
            <a:cxnSpLocks/>
          </p:cNvCxnSpPr>
          <p:nvPr/>
        </p:nvCxnSpPr>
        <p:spPr>
          <a:xfrm flipV="1">
            <a:off x="7883847" y="1832985"/>
            <a:ext cx="432000" cy="6705"/>
          </a:xfrm>
          <a:prstGeom prst="straightConnector1">
            <a:avLst/>
          </a:prstGeom>
          <a:ln w="19050">
            <a:solidFill>
              <a:schemeClr val="accent6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4B17DF7C-B1B9-0B8D-9F18-FF7781AFEAB9}"/>
              </a:ext>
            </a:extLst>
          </p:cNvPr>
          <p:cNvCxnSpPr>
            <a:cxnSpLocks/>
            <a:stCxn id="79" idx="2"/>
            <a:endCxn id="113" idx="0"/>
          </p:cNvCxnSpPr>
          <p:nvPr/>
        </p:nvCxnSpPr>
        <p:spPr>
          <a:xfrm>
            <a:off x="8786790" y="1337976"/>
            <a:ext cx="0" cy="259763"/>
          </a:xfrm>
          <a:prstGeom prst="straightConnector1">
            <a:avLst/>
          </a:prstGeom>
          <a:ln w="19050">
            <a:solidFill>
              <a:schemeClr val="accent6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E46B6FB6-02EF-7DEA-864A-D1B3AC1C65B9}"/>
              </a:ext>
            </a:extLst>
          </p:cNvPr>
          <p:cNvCxnSpPr>
            <a:cxnSpLocks/>
            <a:endCxn id="113" idx="3"/>
          </p:cNvCxnSpPr>
          <p:nvPr/>
        </p:nvCxnSpPr>
        <p:spPr>
          <a:xfrm flipH="1">
            <a:off x="9254790" y="1826280"/>
            <a:ext cx="432000" cy="5459"/>
          </a:xfrm>
          <a:prstGeom prst="straightConnector1">
            <a:avLst/>
          </a:prstGeom>
          <a:ln w="19050">
            <a:solidFill>
              <a:schemeClr val="accent6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hteck: abgerundete Ecken 99">
            <a:extLst>
              <a:ext uri="{FF2B5EF4-FFF2-40B4-BE49-F238E27FC236}">
                <a16:creationId xmlns:a16="http://schemas.microsoft.com/office/drawing/2014/main" id="{C1BFCE2A-68F3-AEE7-B317-2E05A2FEBB90}"/>
              </a:ext>
            </a:extLst>
          </p:cNvPr>
          <p:cNvSpPr>
            <a:spLocks/>
          </p:cNvSpPr>
          <p:nvPr/>
        </p:nvSpPr>
        <p:spPr>
          <a:xfrm>
            <a:off x="6384000" y="545976"/>
            <a:ext cx="4824000" cy="36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Heterogeneous Integration</a:t>
            </a:r>
          </a:p>
        </p:txBody>
      </p:sp>
      <p:sp>
        <p:nvSpPr>
          <p:cNvPr id="108" name="Rechteck: abgerundete Ecken 107">
            <a:extLst>
              <a:ext uri="{FF2B5EF4-FFF2-40B4-BE49-F238E27FC236}">
                <a16:creationId xmlns:a16="http://schemas.microsoft.com/office/drawing/2014/main" id="{29AC0443-6F9C-873E-143C-B00158369909}"/>
              </a:ext>
            </a:extLst>
          </p:cNvPr>
          <p:cNvSpPr/>
          <p:nvPr/>
        </p:nvSpPr>
        <p:spPr>
          <a:xfrm>
            <a:off x="6383999" y="2197697"/>
            <a:ext cx="2375999" cy="63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UR-05 to UR-07</a:t>
            </a:r>
          </a:p>
          <a:p>
            <a:pPr algn="ctr"/>
            <a:r>
              <a:rPr lang="en-US" sz="1200" b="1" dirty="0"/>
              <a:t>Backend Wrappers</a:t>
            </a:r>
            <a:br>
              <a:rPr lang="en-US" sz="1200" b="1" dirty="0"/>
            </a:br>
            <a:r>
              <a:rPr lang="en-US" sz="1000" dirty="0"/>
              <a:t>FEM, MBD, equation-based</a:t>
            </a:r>
            <a:endParaRPr lang="en-US" sz="1200" dirty="0"/>
          </a:p>
        </p:txBody>
      </p:sp>
      <p:sp>
        <p:nvSpPr>
          <p:cNvPr id="111" name="Rechteck: abgerundete Ecken 110">
            <a:extLst>
              <a:ext uri="{FF2B5EF4-FFF2-40B4-BE49-F238E27FC236}">
                <a16:creationId xmlns:a16="http://schemas.microsoft.com/office/drawing/2014/main" id="{BB7AEA34-22FB-7BE7-9FB1-90A0BC3D4F1E}"/>
              </a:ext>
            </a:extLst>
          </p:cNvPr>
          <p:cNvSpPr/>
          <p:nvPr/>
        </p:nvSpPr>
        <p:spPr>
          <a:xfrm>
            <a:off x="8831999" y="2197697"/>
            <a:ext cx="1152000" cy="63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UR-08</a:t>
            </a:r>
          </a:p>
          <a:p>
            <a:pPr algn="ctr"/>
            <a:r>
              <a:rPr lang="en-US" sz="1200" b="1" dirty="0"/>
              <a:t>Uniform Interface</a:t>
            </a:r>
          </a:p>
        </p:txBody>
      </p:sp>
      <p:sp>
        <p:nvSpPr>
          <p:cNvPr id="112" name="Rechteck: abgerundete Ecken 111">
            <a:extLst>
              <a:ext uri="{FF2B5EF4-FFF2-40B4-BE49-F238E27FC236}">
                <a16:creationId xmlns:a16="http://schemas.microsoft.com/office/drawing/2014/main" id="{8E951C44-34FF-0D71-0E17-1FEDE98FC412}"/>
              </a:ext>
            </a:extLst>
          </p:cNvPr>
          <p:cNvSpPr/>
          <p:nvPr/>
        </p:nvSpPr>
        <p:spPr>
          <a:xfrm>
            <a:off x="10056000" y="2197697"/>
            <a:ext cx="1152000" cy="63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UR-09</a:t>
            </a:r>
          </a:p>
          <a:p>
            <a:pPr algn="ctr"/>
            <a:r>
              <a:rPr lang="en-US" sz="1100" b="1" dirty="0"/>
              <a:t>Runtime Switching</a:t>
            </a:r>
          </a:p>
        </p:txBody>
      </p:sp>
      <p:grpSp>
        <p:nvGrpSpPr>
          <p:cNvPr id="116" name="Gruppieren 115">
            <a:extLst>
              <a:ext uri="{FF2B5EF4-FFF2-40B4-BE49-F238E27FC236}">
                <a16:creationId xmlns:a16="http://schemas.microsoft.com/office/drawing/2014/main" id="{8F315E29-9515-A92D-02A3-B7D903FAE83E}"/>
              </a:ext>
            </a:extLst>
          </p:cNvPr>
          <p:cNvGrpSpPr/>
          <p:nvPr/>
        </p:nvGrpSpPr>
        <p:grpSpPr>
          <a:xfrm>
            <a:off x="8318790" y="1597739"/>
            <a:ext cx="936000" cy="470395"/>
            <a:chOff x="8165586" y="1799429"/>
            <a:chExt cx="936000" cy="470395"/>
          </a:xfrm>
        </p:grpSpPr>
        <p:sp>
          <p:nvSpPr>
            <p:cNvPr id="113" name="Rechteck 112">
              <a:extLst>
                <a:ext uri="{FF2B5EF4-FFF2-40B4-BE49-F238E27FC236}">
                  <a16:creationId xmlns:a16="http://schemas.microsoft.com/office/drawing/2014/main" id="{2B49E1FA-81D0-F242-3C53-448FD11051EC}"/>
                </a:ext>
              </a:extLst>
            </p:cNvPr>
            <p:cNvSpPr/>
            <p:nvPr/>
          </p:nvSpPr>
          <p:spPr>
            <a:xfrm>
              <a:off x="8165586" y="1799429"/>
              <a:ext cx="936000" cy="468000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100" b="1" i="1" dirty="0"/>
                <a:t>Component</a:t>
              </a:r>
            </a:p>
          </p:txBody>
        </p:sp>
        <p:pic>
          <p:nvPicPr>
            <p:cNvPr id="114" name="Grafik 113" descr="Zahnrad mit einfarbiger Füllung">
              <a:extLst>
                <a:ext uri="{FF2B5EF4-FFF2-40B4-BE49-F238E27FC236}">
                  <a16:creationId xmlns:a16="http://schemas.microsoft.com/office/drawing/2014/main" id="{58173F7A-AAE7-CA4E-89CF-A2A391A7AD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94955" y="1992563"/>
              <a:ext cx="277261" cy="277261"/>
            </a:xfrm>
            <a:prstGeom prst="rect">
              <a:avLst/>
            </a:prstGeom>
          </p:spPr>
        </p:pic>
      </p:grpSp>
      <p:sp>
        <p:nvSpPr>
          <p:cNvPr id="126" name="Rechteck: abgerundete Ecken 125">
            <a:extLst>
              <a:ext uri="{FF2B5EF4-FFF2-40B4-BE49-F238E27FC236}">
                <a16:creationId xmlns:a16="http://schemas.microsoft.com/office/drawing/2014/main" id="{8E5EB517-99C2-E895-6CD6-0BCB1F30D3D4}"/>
              </a:ext>
            </a:extLst>
          </p:cNvPr>
          <p:cNvSpPr>
            <a:spLocks/>
          </p:cNvSpPr>
          <p:nvPr/>
        </p:nvSpPr>
        <p:spPr>
          <a:xfrm>
            <a:off x="984000" y="3212315"/>
            <a:ext cx="4824000" cy="36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Simulation</a:t>
            </a:r>
          </a:p>
        </p:txBody>
      </p:sp>
      <p:sp>
        <p:nvSpPr>
          <p:cNvPr id="127" name="Rechteck: abgerundete Ecken 126">
            <a:extLst>
              <a:ext uri="{FF2B5EF4-FFF2-40B4-BE49-F238E27FC236}">
                <a16:creationId xmlns:a16="http://schemas.microsoft.com/office/drawing/2014/main" id="{4CC29B2D-EF2F-7C74-763A-884FE1ECC375}"/>
              </a:ext>
            </a:extLst>
          </p:cNvPr>
          <p:cNvSpPr/>
          <p:nvPr/>
        </p:nvSpPr>
        <p:spPr>
          <a:xfrm>
            <a:off x="984000" y="4865976"/>
            <a:ext cx="1152000" cy="63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UR-10 </a:t>
            </a:r>
            <a:r>
              <a:rPr lang="en-US" sz="1000" i="1" dirty="0"/>
              <a:t>(1)</a:t>
            </a:r>
            <a:endParaRPr lang="en-US" sz="1200" i="1" dirty="0"/>
          </a:p>
          <a:p>
            <a:pPr algn="ctr"/>
            <a:r>
              <a:rPr lang="en-US" sz="1200" b="1" dirty="0"/>
              <a:t>Structural Analysis</a:t>
            </a:r>
          </a:p>
        </p:txBody>
      </p:sp>
      <p:sp>
        <p:nvSpPr>
          <p:cNvPr id="128" name="Rechteck: abgerundete Ecken 127">
            <a:extLst>
              <a:ext uri="{FF2B5EF4-FFF2-40B4-BE49-F238E27FC236}">
                <a16:creationId xmlns:a16="http://schemas.microsoft.com/office/drawing/2014/main" id="{742A86D2-5F99-40DC-7330-7E02FA4B73A5}"/>
              </a:ext>
            </a:extLst>
          </p:cNvPr>
          <p:cNvSpPr/>
          <p:nvPr/>
        </p:nvSpPr>
        <p:spPr>
          <a:xfrm>
            <a:off x="3432000" y="4865976"/>
            <a:ext cx="1152000" cy="63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UR-11 </a:t>
            </a:r>
            <a:r>
              <a:rPr lang="en-US" sz="1000" i="1" dirty="0"/>
              <a:t>(1)</a:t>
            </a:r>
            <a:endParaRPr lang="en-US" sz="1200" i="1" dirty="0"/>
          </a:p>
          <a:p>
            <a:pPr algn="ctr"/>
            <a:r>
              <a:rPr lang="en-US" sz="1200" b="1" dirty="0"/>
              <a:t>Algebraic Loops</a:t>
            </a:r>
          </a:p>
        </p:txBody>
      </p:sp>
      <p:sp>
        <p:nvSpPr>
          <p:cNvPr id="129" name="Rechteck: abgerundete Ecken 128">
            <a:extLst>
              <a:ext uri="{FF2B5EF4-FFF2-40B4-BE49-F238E27FC236}">
                <a16:creationId xmlns:a16="http://schemas.microsoft.com/office/drawing/2014/main" id="{20020579-C078-40E7-9D22-BC955F3FD869}"/>
              </a:ext>
            </a:extLst>
          </p:cNvPr>
          <p:cNvSpPr/>
          <p:nvPr/>
        </p:nvSpPr>
        <p:spPr>
          <a:xfrm>
            <a:off x="2208000" y="4865976"/>
            <a:ext cx="1152000" cy="63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UR-10 </a:t>
            </a:r>
            <a:r>
              <a:rPr lang="en-US" sz="1000" i="1" dirty="0"/>
              <a:t>(2)</a:t>
            </a:r>
            <a:endParaRPr lang="en-US" sz="1200" i="1" dirty="0"/>
          </a:p>
          <a:p>
            <a:pPr algn="ctr"/>
            <a:r>
              <a:rPr lang="en-US" sz="1200" b="1" dirty="0"/>
              <a:t>Hybrid Events</a:t>
            </a:r>
          </a:p>
        </p:txBody>
      </p:sp>
      <p:sp>
        <p:nvSpPr>
          <p:cNvPr id="130" name="Rechteck: abgerundete Ecken 129">
            <a:extLst>
              <a:ext uri="{FF2B5EF4-FFF2-40B4-BE49-F238E27FC236}">
                <a16:creationId xmlns:a16="http://schemas.microsoft.com/office/drawing/2014/main" id="{1DACFE78-A6A2-CB5A-952D-2A8AE754FEC8}"/>
              </a:ext>
            </a:extLst>
          </p:cNvPr>
          <p:cNvSpPr/>
          <p:nvPr/>
        </p:nvSpPr>
        <p:spPr>
          <a:xfrm>
            <a:off x="4656000" y="4865976"/>
            <a:ext cx="1152000" cy="63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UR-11 </a:t>
            </a:r>
            <a:r>
              <a:rPr lang="en-US" sz="1000" i="1" dirty="0"/>
              <a:t>(2)</a:t>
            </a:r>
            <a:endParaRPr lang="en-US" sz="1200" i="1" dirty="0"/>
          </a:p>
          <a:p>
            <a:pPr algn="ctr"/>
            <a:r>
              <a:rPr lang="en-US" sz="1200" b="1" dirty="0"/>
              <a:t>Pluggable Algorithms</a:t>
            </a:r>
          </a:p>
        </p:txBody>
      </p:sp>
      <p:sp>
        <p:nvSpPr>
          <p:cNvPr id="131" name="Rechteck: abgerundete Ecken 130">
            <a:extLst>
              <a:ext uri="{FF2B5EF4-FFF2-40B4-BE49-F238E27FC236}">
                <a16:creationId xmlns:a16="http://schemas.microsoft.com/office/drawing/2014/main" id="{3EFE3D2E-081D-B9C2-F260-C933A9420956}"/>
              </a:ext>
            </a:extLst>
          </p:cNvPr>
          <p:cNvSpPr>
            <a:spLocks/>
          </p:cNvSpPr>
          <p:nvPr/>
        </p:nvSpPr>
        <p:spPr>
          <a:xfrm>
            <a:off x="6384000" y="3212315"/>
            <a:ext cx="4824000" cy="36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Interaction</a:t>
            </a:r>
          </a:p>
        </p:txBody>
      </p:sp>
      <p:grpSp>
        <p:nvGrpSpPr>
          <p:cNvPr id="172" name="Gruppieren 171">
            <a:extLst>
              <a:ext uri="{FF2B5EF4-FFF2-40B4-BE49-F238E27FC236}">
                <a16:creationId xmlns:a16="http://schemas.microsoft.com/office/drawing/2014/main" id="{D1005156-EF49-EA6A-D58B-D397470163E2}"/>
              </a:ext>
            </a:extLst>
          </p:cNvPr>
          <p:cNvGrpSpPr/>
          <p:nvPr/>
        </p:nvGrpSpPr>
        <p:grpSpPr>
          <a:xfrm>
            <a:off x="1883432" y="3684563"/>
            <a:ext cx="3025136" cy="901513"/>
            <a:chOff x="1880100" y="3967487"/>
            <a:chExt cx="3025136" cy="90151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7" name="Rechteck: abgerundete Ecken 136">
                  <a:extLst>
                    <a:ext uri="{FF2B5EF4-FFF2-40B4-BE49-F238E27FC236}">
                      <a16:creationId xmlns:a16="http://schemas.microsoft.com/office/drawing/2014/main" id="{D0045334-4ED5-1DEF-0A10-9D283D28E61B}"/>
                    </a:ext>
                  </a:extLst>
                </p:cNvPr>
                <p:cNvSpPr/>
                <p:nvPr/>
              </p:nvSpPr>
              <p:spPr>
                <a:xfrm>
                  <a:off x="1880100" y="4239000"/>
                  <a:ext cx="432000" cy="630000"/>
                </a:xfrm>
                <a:prstGeom prst="round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i="1" dirty="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0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200" b="0" i="0" dirty="0" smtClean="0">
                            <a:latin typeface="Cambria Math" panose="02040503050406030204" pitchFamily="18" charset="0"/>
                          </a:rPr>
                          <m:t>1)</m:t>
                        </m:r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37" name="Rechteck: abgerundete Ecken 136">
                  <a:extLst>
                    <a:ext uri="{FF2B5EF4-FFF2-40B4-BE49-F238E27FC236}">
                      <a16:creationId xmlns:a16="http://schemas.microsoft.com/office/drawing/2014/main" id="{D0045334-4ED5-1DEF-0A10-9D283D28E6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100" y="4239000"/>
                  <a:ext cx="432000" cy="630000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8" name="Rechteck: abgerundete Ecken 137">
                  <a:extLst>
                    <a:ext uri="{FF2B5EF4-FFF2-40B4-BE49-F238E27FC236}">
                      <a16:creationId xmlns:a16="http://schemas.microsoft.com/office/drawing/2014/main" id="{A7498438-D5F0-4BA7-B03F-A598C136126E}"/>
                    </a:ext>
                  </a:extLst>
                </p:cNvPr>
                <p:cNvSpPr/>
                <p:nvPr/>
              </p:nvSpPr>
              <p:spPr>
                <a:xfrm>
                  <a:off x="2856000" y="4239000"/>
                  <a:ext cx="1080000" cy="630000"/>
                </a:xfrm>
                <a:prstGeom prst="roundRect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0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</a:p>
                <a:p>
                  <a:pPr algn="ctr"/>
                </a:p>
              </p:txBody>
            </p:sp>
          </mc:Choice>
          <mc:Fallback>
            <p:sp>
              <p:nvSpPr>
                <p:cNvPr id="138" name="Rechteck: abgerundete Ecken 137">
                  <a:extLst>
                    <a:ext uri="{FF2B5EF4-FFF2-40B4-BE49-F238E27FC236}">
                      <a16:creationId xmlns:a16="http://schemas.microsoft.com/office/drawing/2014/main" id="{A7498438-D5F0-4BA7-B03F-A598C13612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56000" y="4239000"/>
                  <a:ext cx="1080000" cy="630000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9" name="Rechteck: abgerundete Ecken 138">
                  <a:extLst>
                    <a:ext uri="{FF2B5EF4-FFF2-40B4-BE49-F238E27FC236}">
                      <a16:creationId xmlns:a16="http://schemas.microsoft.com/office/drawing/2014/main" id="{50EF5294-210D-AE04-CD30-84134DCA224B}"/>
                    </a:ext>
                  </a:extLst>
                </p:cNvPr>
                <p:cNvSpPr/>
                <p:nvPr/>
              </p:nvSpPr>
              <p:spPr>
                <a:xfrm>
                  <a:off x="4440000" y="4236040"/>
                  <a:ext cx="432000" cy="630000"/>
                </a:xfrm>
                <a:prstGeom prst="round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i="1" dirty="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0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39" name="Rechteck: abgerundete Ecken 138">
                  <a:extLst>
                    <a:ext uri="{FF2B5EF4-FFF2-40B4-BE49-F238E27FC236}">
                      <a16:creationId xmlns:a16="http://schemas.microsoft.com/office/drawing/2014/main" id="{50EF5294-210D-AE04-CD30-84134DCA22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40000" y="4236040"/>
                  <a:ext cx="432000" cy="630000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1" name="Gerade Verbindung mit Pfeil 140">
              <a:extLst>
                <a:ext uri="{FF2B5EF4-FFF2-40B4-BE49-F238E27FC236}">
                  <a16:creationId xmlns:a16="http://schemas.microsoft.com/office/drawing/2014/main" id="{FB0A0E08-F035-A5E6-EC51-EF37AE16EF6F}"/>
                </a:ext>
              </a:extLst>
            </p:cNvPr>
            <p:cNvCxnSpPr>
              <a:cxnSpLocks/>
              <a:stCxn id="137" idx="3"/>
              <a:endCxn id="138" idx="1"/>
            </p:cNvCxnSpPr>
            <p:nvPr/>
          </p:nvCxnSpPr>
          <p:spPr>
            <a:xfrm>
              <a:off x="2312100" y="4554000"/>
              <a:ext cx="5439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Gerade Verbindung mit Pfeil 141">
              <a:extLst>
                <a:ext uri="{FF2B5EF4-FFF2-40B4-BE49-F238E27FC236}">
                  <a16:creationId xmlns:a16="http://schemas.microsoft.com/office/drawing/2014/main" id="{DEF51CF4-0C89-3381-9109-84789B45D086}"/>
                </a:ext>
              </a:extLst>
            </p:cNvPr>
            <p:cNvCxnSpPr>
              <a:cxnSpLocks/>
              <a:stCxn id="138" idx="3"/>
              <a:endCxn id="139" idx="1"/>
            </p:cNvCxnSpPr>
            <p:nvPr/>
          </p:nvCxnSpPr>
          <p:spPr>
            <a:xfrm flipV="1">
              <a:off x="3936000" y="4551040"/>
              <a:ext cx="504000" cy="29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59" name="Grafik 158" descr="Blitz mit einfarbiger Füllung">
              <a:extLst>
                <a:ext uri="{FF2B5EF4-FFF2-40B4-BE49-F238E27FC236}">
                  <a16:creationId xmlns:a16="http://schemas.microsoft.com/office/drawing/2014/main" id="{AB6FBFDB-5B7F-58E3-FE90-5B9A5C4535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89236" y="3967487"/>
              <a:ext cx="216000" cy="2160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0" name="Rechteck: abgerundete Ecken 159">
                  <a:extLst>
                    <a:ext uri="{FF2B5EF4-FFF2-40B4-BE49-F238E27FC236}">
                      <a16:creationId xmlns:a16="http://schemas.microsoft.com/office/drawing/2014/main" id="{82AC59D2-B638-2F3C-3381-30802B6AABF7}"/>
                    </a:ext>
                  </a:extLst>
                </p:cNvPr>
                <p:cNvSpPr/>
                <p:nvPr/>
              </p:nvSpPr>
              <p:spPr>
                <a:xfrm>
                  <a:off x="2856000" y="4020718"/>
                  <a:ext cx="1080000" cy="172338"/>
                </a:xfrm>
                <a:prstGeom prst="round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i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algebraic loop</a:t>
                  </a:r>
                  <a14:m/>
                </a:p>
              </p:txBody>
            </p:sp>
          </mc:Choice>
          <mc:Fallback>
            <p:sp>
              <p:nvSpPr>
                <p:cNvPr id="160" name="Rechteck: abgerundete Ecken 159">
                  <a:extLst>
                    <a:ext uri="{FF2B5EF4-FFF2-40B4-BE49-F238E27FC236}">
                      <a16:creationId xmlns:a16="http://schemas.microsoft.com/office/drawing/2014/main" id="{82AC59D2-B638-2F3C-3381-30802B6AAB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56000" y="4020718"/>
                  <a:ext cx="1080000" cy="172338"/>
                </a:xfrm>
                <a:prstGeom prst="roundRect">
                  <a:avLst/>
                </a:prstGeom>
                <a:blipFill>
                  <a:blip r:embed="rId10"/>
                  <a:stretch>
                    <a:fillRect t="-25000" r="-1130" b="-4642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9" name="Gerade Verbindung mit Pfeil 168">
              <a:extLst>
                <a:ext uri="{FF2B5EF4-FFF2-40B4-BE49-F238E27FC236}">
                  <a16:creationId xmlns:a16="http://schemas.microsoft.com/office/drawing/2014/main" id="{4212F929-19D7-5DDB-DC41-DF906E5692D4}"/>
                </a:ext>
              </a:extLst>
            </p:cNvPr>
            <p:cNvCxnSpPr>
              <a:cxnSpLocks/>
              <a:endCxn id="139" idx="0"/>
            </p:cNvCxnSpPr>
            <p:nvPr/>
          </p:nvCxnSpPr>
          <p:spPr>
            <a:xfrm>
              <a:off x="4656000" y="3967487"/>
              <a:ext cx="0" cy="268553"/>
            </a:xfrm>
            <a:prstGeom prst="straightConnector1">
              <a:avLst/>
            </a:prstGeom>
            <a:ln>
              <a:solidFill>
                <a:srgbClr val="FFC000"/>
              </a:solidFill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4" name="Rechteck: abgerundete Ecken 173">
            <a:extLst>
              <a:ext uri="{FF2B5EF4-FFF2-40B4-BE49-F238E27FC236}">
                <a16:creationId xmlns:a16="http://schemas.microsoft.com/office/drawing/2014/main" id="{76E1DCB1-08B0-6AB9-2210-16A573F583BA}"/>
              </a:ext>
            </a:extLst>
          </p:cNvPr>
          <p:cNvSpPr/>
          <p:nvPr/>
        </p:nvSpPr>
        <p:spPr>
          <a:xfrm>
            <a:off x="6383998" y="4861037"/>
            <a:ext cx="2375999" cy="63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UR-12</a:t>
            </a:r>
          </a:p>
          <a:p>
            <a:pPr algn="ctr"/>
            <a:r>
              <a:rPr lang="en-US" sz="1200" b="1" dirty="0"/>
              <a:t>System Graph</a:t>
            </a:r>
          </a:p>
        </p:txBody>
      </p:sp>
      <p:sp>
        <p:nvSpPr>
          <p:cNvPr id="176" name="Rechteck: abgerundete Ecken 175">
            <a:extLst>
              <a:ext uri="{FF2B5EF4-FFF2-40B4-BE49-F238E27FC236}">
                <a16:creationId xmlns:a16="http://schemas.microsoft.com/office/drawing/2014/main" id="{A653B335-1F97-8A14-DF6F-1BCB43CA7720}"/>
              </a:ext>
            </a:extLst>
          </p:cNvPr>
          <p:cNvSpPr/>
          <p:nvPr/>
        </p:nvSpPr>
        <p:spPr>
          <a:xfrm>
            <a:off x="8831999" y="4861037"/>
            <a:ext cx="2376001" cy="6300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UR-13</a:t>
            </a:r>
          </a:p>
          <a:p>
            <a:pPr algn="ctr"/>
            <a:r>
              <a:rPr lang="en-US" sz="1200" b="1" dirty="0"/>
              <a:t>Simulation History</a:t>
            </a:r>
          </a:p>
        </p:txBody>
      </p:sp>
      <p:grpSp>
        <p:nvGrpSpPr>
          <p:cNvPr id="215" name="Gruppieren 214">
            <a:extLst>
              <a:ext uri="{FF2B5EF4-FFF2-40B4-BE49-F238E27FC236}">
                <a16:creationId xmlns:a16="http://schemas.microsoft.com/office/drawing/2014/main" id="{AE12FF80-98EB-CBC1-253D-7E8FE4EB284E}"/>
              </a:ext>
            </a:extLst>
          </p:cNvPr>
          <p:cNvGrpSpPr/>
          <p:nvPr/>
        </p:nvGrpSpPr>
        <p:grpSpPr>
          <a:xfrm>
            <a:off x="6927682" y="3818839"/>
            <a:ext cx="1288630" cy="820208"/>
            <a:chOff x="6944985" y="4097596"/>
            <a:chExt cx="1288630" cy="820208"/>
          </a:xfrm>
        </p:grpSpPr>
        <p:sp>
          <p:nvSpPr>
            <p:cNvPr id="194" name="Rechteck: abgerundete Ecken 193">
              <a:extLst>
                <a:ext uri="{FF2B5EF4-FFF2-40B4-BE49-F238E27FC236}">
                  <a16:creationId xmlns:a16="http://schemas.microsoft.com/office/drawing/2014/main" id="{42BEDB4E-994E-87E8-D086-76E5A673F93F}"/>
                </a:ext>
              </a:extLst>
            </p:cNvPr>
            <p:cNvSpPr/>
            <p:nvPr/>
          </p:nvSpPr>
          <p:spPr>
            <a:xfrm>
              <a:off x="6944986" y="4097596"/>
              <a:ext cx="475231" cy="246237"/>
            </a:xfrm>
            <a:prstGeom prst="round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5" name="Rechteck: abgerundete Ecken 194">
              <a:extLst>
                <a:ext uri="{FF2B5EF4-FFF2-40B4-BE49-F238E27FC236}">
                  <a16:creationId xmlns:a16="http://schemas.microsoft.com/office/drawing/2014/main" id="{7D64E6EE-C830-11AB-ADE8-F564A9E01E9D}"/>
                </a:ext>
              </a:extLst>
            </p:cNvPr>
            <p:cNvSpPr/>
            <p:nvPr/>
          </p:nvSpPr>
          <p:spPr>
            <a:xfrm>
              <a:off x="7754934" y="4097596"/>
              <a:ext cx="475231" cy="246237"/>
            </a:xfrm>
            <a:prstGeom prst="round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7" name="Rechteck: abgerundete Ecken 196">
              <a:extLst>
                <a:ext uri="{FF2B5EF4-FFF2-40B4-BE49-F238E27FC236}">
                  <a16:creationId xmlns:a16="http://schemas.microsoft.com/office/drawing/2014/main" id="{C0E086DB-3D4F-EC28-DCBF-316248ECCBE5}"/>
                </a:ext>
              </a:extLst>
            </p:cNvPr>
            <p:cNvSpPr/>
            <p:nvPr/>
          </p:nvSpPr>
          <p:spPr>
            <a:xfrm>
              <a:off x="6944985" y="4671567"/>
              <a:ext cx="475231" cy="246237"/>
            </a:xfrm>
            <a:prstGeom prst="round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Rechteck: abgerundete Ecken 197">
              <a:extLst>
                <a:ext uri="{FF2B5EF4-FFF2-40B4-BE49-F238E27FC236}">
                  <a16:creationId xmlns:a16="http://schemas.microsoft.com/office/drawing/2014/main" id="{3858520B-E032-C8CC-BF75-C3588B85D808}"/>
                </a:ext>
              </a:extLst>
            </p:cNvPr>
            <p:cNvSpPr/>
            <p:nvPr/>
          </p:nvSpPr>
          <p:spPr>
            <a:xfrm>
              <a:off x="7758384" y="4671566"/>
              <a:ext cx="475231" cy="246237"/>
            </a:xfrm>
            <a:prstGeom prst="round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00" name="Gerade Verbindung mit Pfeil 199">
              <a:extLst>
                <a:ext uri="{FF2B5EF4-FFF2-40B4-BE49-F238E27FC236}">
                  <a16:creationId xmlns:a16="http://schemas.microsoft.com/office/drawing/2014/main" id="{9F075336-B986-7EF9-7407-9420668243B9}"/>
                </a:ext>
              </a:extLst>
            </p:cNvPr>
            <p:cNvCxnSpPr>
              <a:stCxn id="194" idx="3"/>
              <a:endCxn id="195" idx="1"/>
            </p:cNvCxnSpPr>
            <p:nvPr/>
          </p:nvCxnSpPr>
          <p:spPr>
            <a:xfrm>
              <a:off x="7420217" y="4220715"/>
              <a:ext cx="33471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Gerade Verbindung mit Pfeil 203">
              <a:extLst>
                <a:ext uri="{FF2B5EF4-FFF2-40B4-BE49-F238E27FC236}">
                  <a16:creationId xmlns:a16="http://schemas.microsoft.com/office/drawing/2014/main" id="{C24BE264-705D-F279-83A0-F425227C23E8}"/>
                </a:ext>
              </a:extLst>
            </p:cNvPr>
            <p:cNvCxnSpPr>
              <a:cxnSpLocks/>
              <a:stCxn id="194" idx="2"/>
              <a:endCxn id="197" idx="0"/>
            </p:cNvCxnSpPr>
            <p:nvPr/>
          </p:nvCxnSpPr>
          <p:spPr>
            <a:xfrm flipH="1">
              <a:off x="7182601" y="4343833"/>
              <a:ext cx="1" cy="32773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 Verbindung mit Pfeil 208">
              <a:extLst>
                <a:ext uri="{FF2B5EF4-FFF2-40B4-BE49-F238E27FC236}">
                  <a16:creationId xmlns:a16="http://schemas.microsoft.com/office/drawing/2014/main" id="{5B35AD03-5AF0-D92C-C66D-CDE056C549FE}"/>
                </a:ext>
              </a:extLst>
            </p:cNvPr>
            <p:cNvCxnSpPr>
              <a:stCxn id="195" idx="2"/>
              <a:endCxn id="198" idx="0"/>
            </p:cNvCxnSpPr>
            <p:nvPr/>
          </p:nvCxnSpPr>
          <p:spPr>
            <a:xfrm>
              <a:off x="7992550" y="4343833"/>
              <a:ext cx="3450" cy="3277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Gerade Verbindung mit Pfeil 210">
              <a:extLst>
                <a:ext uri="{FF2B5EF4-FFF2-40B4-BE49-F238E27FC236}">
                  <a16:creationId xmlns:a16="http://schemas.microsoft.com/office/drawing/2014/main" id="{3C614351-E12B-C50F-4CAE-AA8305A9FE83}"/>
                </a:ext>
              </a:extLst>
            </p:cNvPr>
            <p:cNvCxnSpPr>
              <a:stCxn id="197" idx="3"/>
              <a:endCxn id="198" idx="1"/>
            </p:cNvCxnSpPr>
            <p:nvPr/>
          </p:nvCxnSpPr>
          <p:spPr>
            <a:xfrm flipV="1">
              <a:off x="7420216" y="4794685"/>
              <a:ext cx="338168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4" name="Gruppieren 213">
            <a:extLst>
              <a:ext uri="{FF2B5EF4-FFF2-40B4-BE49-F238E27FC236}">
                <a16:creationId xmlns:a16="http://schemas.microsoft.com/office/drawing/2014/main" id="{D5A4BF0F-1D1F-115E-0414-CB1752C3CD7A}"/>
              </a:ext>
            </a:extLst>
          </p:cNvPr>
          <p:cNvGrpSpPr/>
          <p:nvPr/>
        </p:nvGrpSpPr>
        <p:grpSpPr>
          <a:xfrm>
            <a:off x="9179982" y="3734358"/>
            <a:ext cx="1715498" cy="1008568"/>
            <a:chOff x="9192000" y="4004432"/>
            <a:chExt cx="1715498" cy="1008568"/>
          </a:xfrm>
        </p:grpSpPr>
        <p:cxnSp>
          <p:nvCxnSpPr>
            <p:cNvPr id="181" name="Gerade Verbindung mit Pfeil 180">
              <a:extLst>
                <a:ext uri="{FF2B5EF4-FFF2-40B4-BE49-F238E27FC236}">
                  <a16:creationId xmlns:a16="http://schemas.microsoft.com/office/drawing/2014/main" id="{6530D033-9ABF-500A-2004-E3BE57EC11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92000" y="4004432"/>
              <a:ext cx="0" cy="1008568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Gerade Verbindung mit Pfeil 184">
              <a:extLst>
                <a:ext uri="{FF2B5EF4-FFF2-40B4-BE49-F238E27FC236}">
                  <a16:creationId xmlns:a16="http://schemas.microsoft.com/office/drawing/2014/main" id="{1D071D28-F290-6D2E-11E9-A3E42EEAAF3A}"/>
                </a:ext>
              </a:extLst>
            </p:cNvPr>
            <p:cNvCxnSpPr>
              <a:cxnSpLocks/>
            </p:cNvCxnSpPr>
            <p:nvPr/>
          </p:nvCxnSpPr>
          <p:spPr>
            <a:xfrm>
              <a:off x="9192000" y="5013000"/>
              <a:ext cx="166521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2" name="Freihandform: Form 211">
              <a:extLst>
                <a:ext uri="{FF2B5EF4-FFF2-40B4-BE49-F238E27FC236}">
                  <a16:creationId xmlns:a16="http://schemas.microsoft.com/office/drawing/2014/main" id="{06E7747A-E5C4-E674-AABB-CD02E46B44BB}"/>
                </a:ext>
              </a:extLst>
            </p:cNvPr>
            <p:cNvSpPr/>
            <p:nvPr/>
          </p:nvSpPr>
          <p:spPr>
            <a:xfrm>
              <a:off x="9197760" y="4463981"/>
              <a:ext cx="1685925" cy="297161"/>
            </a:xfrm>
            <a:custGeom>
              <a:avLst/>
              <a:gdLst>
                <a:gd name="csX0" fmla="*/ 0 w 1685925"/>
                <a:gd name="csY0" fmla="*/ 296665 h 297161"/>
                <a:gd name="csX1" fmla="*/ 147638 w 1685925"/>
                <a:gd name="csY1" fmla="*/ 272853 h 297161"/>
                <a:gd name="csX2" fmla="*/ 371475 w 1685925"/>
                <a:gd name="csY2" fmla="*/ 139503 h 297161"/>
                <a:gd name="csX3" fmla="*/ 633413 w 1685925"/>
                <a:gd name="csY3" fmla="*/ 91878 h 297161"/>
                <a:gd name="csX4" fmla="*/ 981075 w 1685925"/>
                <a:gd name="csY4" fmla="*/ 172840 h 297161"/>
                <a:gd name="csX5" fmla="*/ 1233488 w 1685925"/>
                <a:gd name="csY5" fmla="*/ 225228 h 297161"/>
                <a:gd name="csX6" fmla="*/ 1438275 w 1685925"/>
                <a:gd name="csY6" fmla="*/ 139503 h 297161"/>
                <a:gd name="csX7" fmla="*/ 1638300 w 1685925"/>
                <a:gd name="csY7" fmla="*/ 10915 h 297161"/>
                <a:gd name="csX8" fmla="*/ 1685925 w 1685925"/>
                <a:gd name="csY8" fmla="*/ 15678 h 2971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85925" h="297161">
                  <a:moveTo>
                    <a:pt x="0" y="296665"/>
                  </a:moveTo>
                  <a:cubicBezTo>
                    <a:pt x="42862" y="297856"/>
                    <a:pt x="85725" y="299047"/>
                    <a:pt x="147638" y="272853"/>
                  </a:cubicBezTo>
                  <a:cubicBezTo>
                    <a:pt x="209551" y="246659"/>
                    <a:pt x="290513" y="169665"/>
                    <a:pt x="371475" y="139503"/>
                  </a:cubicBezTo>
                  <a:cubicBezTo>
                    <a:pt x="452437" y="109341"/>
                    <a:pt x="531813" y="86322"/>
                    <a:pt x="633413" y="91878"/>
                  </a:cubicBezTo>
                  <a:cubicBezTo>
                    <a:pt x="735013" y="97434"/>
                    <a:pt x="881063" y="150615"/>
                    <a:pt x="981075" y="172840"/>
                  </a:cubicBezTo>
                  <a:cubicBezTo>
                    <a:pt x="1081087" y="195065"/>
                    <a:pt x="1157288" y="230784"/>
                    <a:pt x="1233488" y="225228"/>
                  </a:cubicBezTo>
                  <a:cubicBezTo>
                    <a:pt x="1309688" y="219672"/>
                    <a:pt x="1370806" y="175222"/>
                    <a:pt x="1438275" y="139503"/>
                  </a:cubicBezTo>
                  <a:cubicBezTo>
                    <a:pt x="1505744" y="103784"/>
                    <a:pt x="1597025" y="31552"/>
                    <a:pt x="1638300" y="10915"/>
                  </a:cubicBezTo>
                  <a:cubicBezTo>
                    <a:pt x="1679575" y="-9723"/>
                    <a:pt x="1682750" y="2977"/>
                    <a:pt x="1685925" y="15678"/>
                  </a:cubicBezTo>
                </a:path>
              </a:pathLst>
            </a:cu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Freihandform: Form 212">
              <a:extLst>
                <a:ext uri="{FF2B5EF4-FFF2-40B4-BE49-F238E27FC236}">
                  <a16:creationId xmlns:a16="http://schemas.microsoft.com/office/drawing/2014/main" id="{82BF6734-5075-9E99-22B0-1166A6B5496F}"/>
                </a:ext>
              </a:extLst>
            </p:cNvPr>
            <p:cNvSpPr/>
            <p:nvPr/>
          </p:nvSpPr>
          <p:spPr>
            <a:xfrm>
              <a:off x="9192998" y="4136759"/>
              <a:ext cx="1714500" cy="663409"/>
            </a:xfrm>
            <a:custGeom>
              <a:avLst/>
              <a:gdLst>
                <a:gd name="csX0" fmla="*/ 0 w 1714500"/>
                <a:gd name="csY0" fmla="*/ 466725 h 663409"/>
                <a:gd name="csX1" fmla="*/ 119062 w 1714500"/>
                <a:gd name="csY1" fmla="*/ 461962 h 663409"/>
                <a:gd name="csX2" fmla="*/ 280987 w 1714500"/>
                <a:gd name="csY2" fmla="*/ 547687 h 663409"/>
                <a:gd name="csX3" fmla="*/ 533400 w 1714500"/>
                <a:gd name="csY3" fmla="*/ 628650 h 663409"/>
                <a:gd name="csX4" fmla="*/ 914400 w 1714500"/>
                <a:gd name="csY4" fmla="*/ 657225 h 663409"/>
                <a:gd name="csX5" fmla="*/ 1104900 w 1714500"/>
                <a:gd name="csY5" fmla="*/ 514350 h 663409"/>
                <a:gd name="csX6" fmla="*/ 1223962 w 1714500"/>
                <a:gd name="csY6" fmla="*/ 219075 h 663409"/>
                <a:gd name="csX7" fmla="*/ 1395412 w 1714500"/>
                <a:gd name="csY7" fmla="*/ 42862 h 663409"/>
                <a:gd name="csX8" fmla="*/ 1714500 w 1714500"/>
                <a:gd name="csY8" fmla="*/ 0 h 6634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714500" h="663409">
                  <a:moveTo>
                    <a:pt x="0" y="466725"/>
                  </a:moveTo>
                  <a:cubicBezTo>
                    <a:pt x="36115" y="457596"/>
                    <a:pt x="72231" y="448468"/>
                    <a:pt x="119062" y="461962"/>
                  </a:cubicBezTo>
                  <a:cubicBezTo>
                    <a:pt x="165893" y="475456"/>
                    <a:pt x="211931" y="519906"/>
                    <a:pt x="280987" y="547687"/>
                  </a:cubicBezTo>
                  <a:cubicBezTo>
                    <a:pt x="350043" y="575468"/>
                    <a:pt x="427831" y="610394"/>
                    <a:pt x="533400" y="628650"/>
                  </a:cubicBezTo>
                  <a:cubicBezTo>
                    <a:pt x="638969" y="646906"/>
                    <a:pt x="819150" y="676275"/>
                    <a:pt x="914400" y="657225"/>
                  </a:cubicBezTo>
                  <a:cubicBezTo>
                    <a:pt x="1009650" y="638175"/>
                    <a:pt x="1053306" y="587375"/>
                    <a:pt x="1104900" y="514350"/>
                  </a:cubicBezTo>
                  <a:cubicBezTo>
                    <a:pt x="1156494" y="441325"/>
                    <a:pt x="1175543" y="297656"/>
                    <a:pt x="1223962" y="219075"/>
                  </a:cubicBezTo>
                  <a:cubicBezTo>
                    <a:pt x="1272381" y="140494"/>
                    <a:pt x="1313656" y="79374"/>
                    <a:pt x="1395412" y="42862"/>
                  </a:cubicBezTo>
                  <a:cubicBezTo>
                    <a:pt x="1477168" y="6350"/>
                    <a:pt x="1595834" y="3175"/>
                    <a:pt x="1714500" y="0"/>
                  </a:cubicBezTo>
                </a:path>
              </a:pathLst>
            </a:custGeom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27664EDF-9F9E-FA31-005A-CC9190F063C9}"/>
              </a:ext>
            </a:extLst>
          </p:cNvPr>
          <p:cNvCxnSpPr/>
          <p:nvPr/>
        </p:nvCxnSpPr>
        <p:spPr>
          <a:xfrm>
            <a:off x="6096000" y="473976"/>
            <a:ext cx="0" cy="53280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22" name="Gerader Verbinder 221">
            <a:extLst>
              <a:ext uri="{FF2B5EF4-FFF2-40B4-BE49-F238E27FC236}">
                <a16:creationId xmlns:a16="http://schemas.microsoft.com/office/drawing/2014/main" id="{00BDBF29-5D26-3BC9-7952-70AC7172F7F7}"/>
              </a:ext>
            </a:extLst>
          </p:cNvPr>
          <p:cNvCxnSpPr>
            <a:cxnSpLocks/>
          </p:cNvCxnSpPr>
          <p:nvPr/>
        </p:nvCxnSpPr>
        <p:spPr>
          <a:xfrm>
            <a:off x="696000" y="3137976"/>
            <a:ext cx="10799999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25" name="Rechteck: abgerundete Ecken 224">
            <a:extLst>
              <a:ext uri="{FF2B5EF4-FFF2-40B4-BE49-F238E27FC236}">
                <a16:creationId xmlns:a16="http://schemas.microsoft.com/office/drawing/2014/main" id="{DA8C6AE3-3C6D-584E-4696-28D55C6513FD}"/>
              </a:ext>
            </a:extLst>
          </p:cNvPr>
          <p:cNvSpPr/>
          <p:nvPr/>
        </p:nvSpPr>
        <p:spPr>
          <a:xfrm>
            <a:off x="1056000" y="6233976"/>
            <a:ext cx="1440000" cy="432000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UR</a:t>
            </a:r>
          </a:p>
        </p:txBody>
      </p:sp>
      <p:sp>
        <p:nvSpPr>
          <p:cNvPr id="226" name="Rechteck: abgerundete Ecken 225">
            <a:extLst>
              <a:ext uri="{FF2B5EF4-FFF2-40B4-BE49-F238E27FC236}">
                <a16:creationId xmlns:a16="http://schemas.microsoft.com/office/drawing/2014/main" id="{88CF2902-DA41-EFD5-6C80-CB9BD3E98B16}"/>
              </a:ext>
            </a:extLst>
          </p:cNvPr>
          <p:cNvSpPr/>
          <p:nvPr/>
        </p:nvSpPr>
        <p:spPr>
          <a:xfrm>
            <a:off x="3939332" y="6237000"/>
            <a:ext cx="1440000" cy="432000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SR</a:t>
            </a:r>
          </a:p>
        </p:txBody>
      </p:sp>
      <p:sp>
        <p:nvSpPr>
          <p:cNvPr id="227" name="Rechteck: abgerundete Ecken 226">
            <a:extLst>
              <a:ext uri="{FF2B5EF4-FFF2-40B4-BE49-F238E27FC236}">
                <a16:creationId xmlns:a16="http://schemas.microsoft.com/office/drawing/2014/main" id="{866BC596-A322-5F86-8F5C-C217DD8B5CF2}"/>
              </a:ext>
            </a:extLst>
          </p:cNvPr>
          <p:cNvSpPr/>
          <p:nvPr/>
        </p:nvSpPr>
        <p:spPr>
          <a:xfrm>
            <a:off x="6822664" y="6233976"/>
            <a:ext cx="1440000" cy="432000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Features</a:t>
            </a:r>
          </a:p>
        </p:txBody>
      </p:sp>
      <p:sp>
        <p:nvSpPr>
          <p:cNvPr id="228" name="Rechteck: abgerundete Ecken 227">
            <a:extLst>
              <a:ext uri="{FF2B5EF4-FFF2-40B4-BE49-F238E27FC236}">
                <a16:creationId xmlns:a16="http://schemas.microsoft.com/office/drawing/2014/main" id="{3E17145E-5861-5DFC-D9DE-270ED061A92F}"/>
              </a:ext>
            </a:extLst>
          </p:cNvPr>
          <p:cNvSpPr/>
          <p:nvPr/>
        </p:nvSpPr>
        <p:spPr>
          <a:xfrm>
            <a:off x="9710710" y="6233976"/>
            <a:ext cx="1440000" cy="432000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Case Study</a:t>
            </a:r>
          </a:p>
        </p:txBody>
      </p:sp>
      <p:cxnSp>
        <p:nvCxnSpPr>
          <p:cNvPr id="230" name="Gerade Verbindung mit Pfeil 229">
            <a:extLst>
              <a:ext uri="{FF2B5EF4-FFF2-40B4-BE49-F238E27FC236}">
                <a16:creationId xmlns:a16="http://schemas.microsoft.com/office/drawing/2014/main" id="{BA2F8DFF-FF12-20FF-C645-18FD6BF9DC91}"/>
              </a:ext>
            </a:extLst>
          </p:cNvPr>
          <p:cNvCxnSpPr>
            <a:stCxn id="225" idx="3"/>
            <a:endCxn id="226" idx="1"/>
          </p:cNvCxnSpPr>
          <p:nvPr/>
        </p:nvCxnSpPr>
        <p:spPr>
          <a:xfrm>
            <a:off x="2496000" y="6449976"/>
            <a:ext cx="1443332" cy="3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48922619-CE9B-EA0E-DED9-A03906FF1124}"/>
              </a:ext>
            </a:extLst>
          </p:cNvPr>
          <p:cNvCxnSpPr>
            <a:cxnSpLocks/>
            <a:stCxn id="226" idx="3"/>
            <a:endCxn id="227" idx="1"/>
          </p:cNvCxnSpPr>
          <p:nvPr/>
        </p:nvCxnSpPr>
        <p:spPr>
          <a:xfrm flipV="1">
            <a:off x="5379332" y="6449976"/>
            <a:ext cx="1443332" cy="3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446F17BC-86BE-C85C-6FE5-6490403B7542}"/>
              </a:ext>
            </a:extLst>
          </p:cNvPr>
          <p:cNvCxnSpPr>
            <a:cxnSpLocks/>
            <a:stCxn id="227" idx="3"/>
            <a:endCxn id="228" idx="1"/>
          </p:cNvCxnSpPr>
          <p:nvPr/>
        </p:nvCxnSpPr>
        <p:spPr>
          <a:xfrm>
            <a:off x="8262664" y="6449976"/>
            <a:ext cx="14480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37" name="Rechteck: abgerundete Ecken 236">
            <a:extLst>
              <a:ext uri="{FF2B5EF4-FFF2-40B4-BE49-F238E27FC236}">
                <a16:creationId xmlns:a16="http://schemas.microsoft.com/office/drawing/2014/main" id="{57CDCF9C-2408-9A14-0746-822C64B27D81}"/>
              </a:ext>
            </a:extLst>
          </p:cNvPr>
          <p:cNvSpPr/>
          <p:nvPr/>
        </p:nvSpPr>
        <p:spPr>
          <a:xfrm>
            <a:off x="2802692" y="6147539"/>
            <a:ext cx="825235" cy="210529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derive</a:t>
            </a:r>
            <a:endParaRPr lang="en-US" dirty="0"/>
          </a:p>
        </p:txBody>
      </p:sp>
      <p:sp>
        <p:nvSpPr>
          <p:cNvPr id="238" name="Rechteck: abgerundete Ecken 237">
            <a:extLst>
              <a:ext uri="{FF2B5EF4-FFF2-40B4-BE49-F238E27FC236}">
                <a16:creationId xmlns:a16="http://schemas.microsoft.com/office/drawing/2014/main" id="{96D7E9B4-E743-8CD0-9EE4-A329B6633008}"/>
              </a:ext>
            </a:extLst>
          </p:cNvPr>
          <p:cNvSpPr/>
          <p:nvPr/>
        </p:nvSpPr>
        <p:spPr>
          <a:xfrm>
            <a:off x="5636376" y="6147539"/>
            <a:ext cx="919248" cy="216576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realize</a:t>
            </a:r>
            <a:endParaRPr lang="en-US" dirty="0"/>
          </a:p>
        </p:txBody>
      </p:sp>
      <p:sp>
        <p:nvSpPr>
          <p:cNvPr id="239" name="Rechteck: abgerundete Ecken 238">
            <a:extLst>
              <a:ext uri="{FF2B5EF4-FFF2-40B4-BE49-F238E27FC236}">
                <a16:creationId xmlns:a16="http://schemas.microsoft.com/office/drawing/2014/main" id="{3C77E769-E91D-CC32-07ED-332B786FD70B}"/>
              </a:ext>
            </a:extLst>
          </p:cNvPr>
          <p:cNvSpPr/>
          <p:nvPr/>
        </p:nvSpPr>
        <p:spPr>
          <a:xfrm>
            <a:off x="8531286" y="6147539"/>
            <a:ext cx="919248" cy="216576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validate</a:t>
            </a:r>
          </a:p>
        </p:txBody>
      </p: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DAED1823-310A-3CAC-7691-664B65431DAB}"/>
              </a:ext>
            </a:extLst>
          </p:cNvPr>
          <p:cNvCxnSpPr>
            <a:cxnSpLocks/>
          </p:cNvCxnSpPr>
          <p:nvPr/>
        </p:nvCxnSpPr>
        <p:spPr>
          <a:xfrm>
            <a:off x="695999" y="5801976"/>
            <a:ext cx="10799999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7424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196</Words>
  <Application>Microsoft Office PowerPoint</Application>
  <PresentationFormat>Breitbild</PresentationFormat>
  <Paragraphs>92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 Theme</vt:lpstr>
      <vt:lpstr>PowerPoint-Präsentation</vt:lpstr>
      <vt:lpstr>PowerPoint-Präsentation</vt:lpstr>
      <vt:lpstr>PowerPoint-Präsentation</vt:lpstr>
      <vt:lpstr>Multi-Fidelity and Runtime Switching</vt:lpstr>
      <vt:lpstr>Framework Requirements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Florian Frech</dc:creator>
  <cp:lastModifiedBy>Florian Frech</cp:lastModifiedBy>
  <cp:revision>16</cp:revision>
  <dcterms:created xsi:type="dcterms:W3CDTF">2026-05-29T12:06:55Z</dcterms:created>
  <dcterms:modified xsi:type="dcterms:W3CDTF">2026-06-04T19:54:08Z</dcterms:modified>
</cp:coreProperties>
</file>